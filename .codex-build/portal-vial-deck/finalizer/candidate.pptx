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c9a07867eb4818" /><Relationship Type="http://schemas.openxmlformats.org/officeDocument/2006/relationships/extended-properties" Target="/docProps/app.xml" Id="Rdc1f7bc6f6a24eb4" /><Relationship Type="http://schemas.openxmlformats.org/officeDocument/2006/relationships/officeDocument" Target="/ppt/presentation.xml" Id="Rfe7c866e48b341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a8ceb5207e4072"/>
  </p:sldMasterIdLst>
  <p:notesMasterIdLst>
    <p:notesMasterId xmlns:r="http://schemas.openxmlformats.org/officeDocument/2006/relationships" r:id="Rd5f09feac64f426a"/>
  </p:notesMasterIdLst>
  <p:sldIdLst>
    <p:sldId xmlns:r="http://schemas.openxmlformats.org/officeDocument/2006/relationships" id="256" r:id="Rbf69661dcd484d3e"/>
    <p:sldId xmlns:r="http://schemas.openxmlformats.org/officeDocument/2006/relationships" id="257" r:id="R47bad10ddfa7453d"/>
    <p:sldId xmlns:r="http://schemas.openxmlformats.org/officeDocument/2006/relationships" id="258" r:id="Rc2ca6ba06276410c"/>
    <p:sldId xmlns:r="http://schemas.openxmlformats.org/officeDocument/2006/relationships" id="259" r:id="R3ce97a5531014bfc"/>
    <p:sldId xmlns:r="http://schemas.openxmlformats.org/officeDocument/2006/relationships" id="260" r:id="Rafe21217c50a43c8"/>
    <p:sldId xmlns:r="http://schemas.openxmlformats.org/officeDocument/2006/relationships" id="261" r:id="R70c5854935e14639"/>
    <p:sldId xmlns:r="http://schemas.openxmlformats.org/officeDocument/2006/relationships" id="262" r:id="R4e1e86c243784f4d"/>
    <p:sldId xmlns:r="http://schemas.openxmlformats.org/officeDocument/2006/relationships" id="263" r:id="R9f50c6de4e49455f"/>
    <p:sldId xmlns:r="http://schemas.openxmlformats.org/officeDocument/2006/relationships" id="264" r:id="R5ce0d5b2da824d57"/>
    <p:sldId xmlns:r="http://schemas.openxmlformats.org/officeDocument/2006/relationships" id="265" r:id="Rc3782dda81244123"/>
    <p:sldId xmlns:r="http://schemas.openxmlformats.org/officeDocument/2006/relationships" id="266" r:id="R475ed2372cc24b63"/>
    <p:sldId xmlns:r="http://schemas.openxmlformats.org/officeDocument/2006/relationships" id="267" r:id="R24fe04cb6b7a48be"/>
    <p:sldId xmlns:r="http://schemas.openxmlformats.org/officeDocument/2006/relationships" id="268" r:id="R96ca0bd85864403f"/>
    <p:sldId xmlns:r="http://schemas.openxmlformats.org/officeDocument/2006/relationships" id="269" r:id="R6d3668d1fc1e4d14"/>
    <p:sldId xmlns:r="http://schemas.openxmlformats.org/officeDocument/2006/relationships" id="270" r:id="R050fc5a8043d42f5"/>
    <p:sldId xmlns:r="http://schemas.openxmlformats.org/officeDocument/2006/relationships" id="271" r:id="R0410e69ef50d403e"/>
    <p:sldId xmlns:r="http://schemas.openxmlformats.org/officeDocument/2006/relationships" id="272" r:id="R12af45b14a0f47c2"/>
    <p:sldId xmlns:r="http://schemas.openxmlformats.org/officeDocument/2006/relationships" id="273" r:id="R50198108265f4d51"/>
    <p:sldId xmlns:r="http://schemas.openxmlformats.org/officeDocument/2006/relationships" id="274" r:id="R5a17777c291842da"/>
    <p:sldId xmlns:r="http://schemas.openxmlformats.org/officeDocument/2006/relationships" id="275" r:id="Rf85d0b7290924596"/>
    <p:sldId xmlns:r="http://schemas.openxmlformats.org/officeDocument/2006/relationships" id="276" r:id="Rfa2811bd73bb43e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ae7392e4ef40bf" /><Relationship Type="http://schemas.openxmlformats.org/officeDocument/2006/relationships/slideMaster" Target="/ppt/slideMasters/slideMaster1.xml" Id="R85a8ceb5207e4072" /><Relationship Type="http://schemas.openxmlformats.org/officeDocument/2006/relationships/notesMaster" Target="/ppt/notesMasters/notesMaster1.xml" Id="Rd5f09feac64f426a" /><Relationship Type="http://schemas.openxmlformats.org/officeDocument/2006/relationships/presProps" Target="/ppt/presProps.xml" Id="R8969e29a90fc428b" /><Relationship Type="http://schemas.openxmlformats.org/officeDocument/2006/relationships/tableStyles" Target="/ppt/tableStyles.xml" Id="R31d3c82cdb6a4bb5" /><Relationship Type="http://schemas.openxmlformats.org/officeDocument/2006/relationships/slide" Target="/ppt/slides/slide1.xml" Id="Rbf69661dcd484d3e" /><Relationship Type="http://schemas.openxmlformats.org/officeDocument/2006/relationships/slide" Target="/ppt/slides/slide2.xml" Id="R47bad10ddfa7453d" /><Relationship Type="http://schemas.openxmlformats.org/officeDocument/2006/relationships/slide" Target="/ppt/slides/slide3.xml" Id="Rc2ca6ba06276410c" /><Relationship Type="http://schemas.openxmlformats.org/officeDocument/2006/relationships/slide" Target="/ppt/slides/slide4.xml" Id="R3ce97a5531014bfc" /><Relationship Type="http://schemas.openxmlformats.org/officeDocument/2006/relationships/slide" Target="/ppt/slides/slide5.xml" Id="Rafe21217c50a43c8" /><Relationship Type="http://schemas.openxmlformats.org/officeDocument/2006/relationships/slide" Target="/ppt/slides/slide6.xml" Id="R70c5854935e14639" /><Relationship Type="http://schemas.openxmlformats.org/officeDocument/2006/relationships/slide" Target="/ppt/slides/slide7.xml" Id="R4e1e86c243784f4d" /><Relationship Type="http://schemas.openxmlformats.org/officeDocument/2006/relationships/slide" Target="/ppt/slides/slide8.xml" Id="R9f50c6de4e49455f" /><Relationship Type="http://schemas.openxmlformats.org/officeDocument/2006/relationships/slide" Target="/ppt/slides/slide9.xml" Id="R5ce0d5b2da824d57" /><Relationship Type="http://schemas.openxmlformats.org/officeDocument/2006/relationships/slide" Target="/ppt/slides/slide10.xml" Id="Rc3782dda81244123" /><Relationship Type="http://schemas.openxmlformats.org/officeDocument/2006/relationships/slide" Target="/ppt/slides/slide11.xml" Id="R475ed2372cc24b63" /><Relationship Type="http://schemas.openxmlformats.org/officeDocument/2006/relationships/slide" Target="/ppt/slides/slide12.xml" Id="R24fe04cb6b7a48be" /><Relationship Type="http://schemas.openxmlformats.org/officeDocument/2006/relationships/slide" Target="/ppt/slides/slide13.xml" Id="R96ca0bd85864403f" /><Relationship Type="http://schemas.openxmlformats.org/officeDocument/2006/relationships/slide" Target="/ppt/slides/slide14.xml" Id="R6d3668d1fc1e4d14" /><Relationship Type="http://schemas.openxmlformats.org/officeDocument/2006/relationships/slide" Target="/ppt/slides/slide15.xml" Id="R050fc5a8043d42f5" /><Relationship Type="http://schemas.openxmlformats.org/officeDocument/2006/relationships/slide" Target="/ppt/slides/slide16.xml" Id="R0410e69ef50d403e" /><Relationship Type="http://schemas.openxmlformats.org/officeDocument/2006/relationships/slide" Target="/ppt/slides/slide17.xml" Id="R12af45b14a0f47c2" /><Relationship Type="http://schemas.openxmlformats.org/officeDocument/2006/relationships/slide" Target="/ppt/slides/slide18.xml" Id="R50198108265f4d51" /><Relationship Type="http://schemas.openxmlformats.org/officeDocument/2006/relationships/slide" Target="/ppt/slides/slide19.xml" Id="R5a17777c291842da" /><Relationship Type="http://schemas.openxmlformats.org/officeDocument/2006/relationships/slide" Target="/ppt/slides/slide20.xml" Id="Rf85d0b7290924596" /><Relationship Type="http://schemas.openxmlformats.org/officeDocument/2006/relationships/slide" Target="/ppt/slides/slide21.xml" Id="Rfa2811bd73bb43e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6ef52a35664c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02c61be94e4e4b" /><Relationship Type="http://schemas.openxmlformats.org/officeDocument/2006/relationships/notesMaster" Target="/ppt/notesMasters/notesMaster1.xml" Id="R5170acffe8b04f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0ef08d26da495b" /><Relationship Type="http://schemas.openxmlformats.org/officeDocument/2006/relationships/notesMaster" Target="/ppt/notesMasters/notesMaster1.xml" Id="R97a54db8ef524d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34c40b9a054832" /><Relationship Type="http://schemas.openxmlformats.org/officeDocument/2006/relationships/notesMaster" Target="/ppt/notesMasters/notesMaster1.xml" Id="Rfa3a4a382b1349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cdc99845b14a5e" /><Relationship Type="http://schemas.openxmlformats.org/officeDocument/2006/relationships/notesMaster" Target="/ppt/notesMasters/notesMaster1.xml" Id="R5ca33f4a60a44d0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a1ffc117204245" /><Relationship Type="http://schemas.openxmlformats.org/officeDocument/2006/relationships/notesMaster" Target="/ppt/notesMasters/notesMaster1.xml" Id="R400d4b4acdc744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17dba28ec8f4a70" /><Relationship Type="http://schemas.openxmlformats.org/officeDocument/2006/relationships/notesMaster" Target="/ppt/notesMasters/notesMaster1.xml" Id="Rfc47100c70f94ac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1c845db033f4a05" /><Relationship Type="http://schemas.openxmlformats.org/officeDocument/2006/relationships/notesMaster" Target="/ppt/notesMasters/notesMaster1.xml" Id="R917d3d58cb434f1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4cf9f7e2f644852" /><Relationship Type="http://schemas.openxmlformats.org/officeDocument/2006/relationships/notesMaster" Target="/ppt/notesMasters/notesMaster1.xml" Id="R561bc1c38178474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26aeb550c7c4790" /><Relationship Type="http://schemas.openxmlformats.org/officeDocument/2006/relationships/notesMaster" Target="/ppt/notesMasters/notesMaster1.xml" Id="Re177a5c7517b464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370a1706dd84381" /><Relationship Type="http://schemas.openxmlformats.org/officeDocument/2006/relationships/notesMaster" Target="/ppt/notesMasters/notesMaster1.xml" Id="Rf6274dd545cd485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187db5ef10843ca" /><Relationship Type="http://schemas.openxmlformats.org/officeDocument/2006/relationships/notesMaster" Target="/ppt/notesMasters/notesMaster1.xml" Id="R27c196443db34ba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5078f22ce2749d5" /><Relationship Type="http://schemas.openxmlformats.org/officeDocument/2006/relationships/notesMaster" Target="/ppt/notesMasters/notesMaster1.xml" Id="Rbe8f1c7d38a242c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8760a9b73b148af" /><Relationship Type="http://schemas.openxmlformats.org/officeDocument/2006/relationships/notesMaster" Target="/ppt/notesMasters/notesMaster1.xml" Id="R1145ebc973a7498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9222f21ff0548a6" /><Relationship Type="http://schemas.openxmlformats.org/officeDocument/2006/relationships/notesMaster" Target="/ppt/notesMasters/notesMaster1.xml" Id="R0b82a2df123c495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10b01f574a34759" /><Relationship Type="http://schemas.openxmlformats.org/officeDocument/2006/relationships/notesMaster" Target="/ppt/notesMasters/notesMaster1.xml" Id="R8c2d0b72d19545a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093da0b268c419b" /><Relationship Type="http://schemas.openxmlformats.org/officeDocument/2006/relationships/notesMaster" Target="/ppt/notesMasters/notesMaster1.xml" Id="R5358bb6182eb4e4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270159b461f4b34" /><Relationship Type="http://schemas.openxmlformats.org/officeDocument/2006/relationships/notesMaster" Target="/ppt/notesMasters/notesMaster1.xml" Id="Ra1db98ea2ebd4e1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d01b5e645584a7b" /><Relationship Type="http://schemas.openxmlformats.org/officeDocument/2006/relationships/notesMaster" Target="/ppt/notesMasters/notesMaster1.xml" Id="Rb726f44d75ed43b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efa0799e1074d4e" /><Relationship Type="http://schemas.openxmlformats.org/officeDocument/2006/relationships/notesMaster" Target="/ppt/notesMasters/notesMaster1.xml" Id="Rb671700696344e9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13445e5fead4bcc" /><Relationship Type="http://schemas.openxmlformats.org/officeDocument/2006/relationships/notesMaster" Target="/ppt/notesMasters/notesMaster1.xml" Id="Reabe691f1d49490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af03f6bc9514342" /><Relationship Type="http://schemas.openxmlformats.org/officeDocument/2006/relationships/notesMaster" Target="/ppt/notesMasters/notesMaster1.xml" Id="R61935fe677ab47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con una pausa breve. No presentar tecnologías todavía.</a:t>
            </a:r>
          </a:p>
          <a:p xmlns:a="http://schemas.openxmlformats.org/drawingml/2006/main">
            <a:r>
              <a:t>Frase sugerida: Portal Vial nace al conectar una necesidad ciudadana con una necesidad institucional.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C:\Users\ASUS\Desktop\Proyecto1\Proyecto-IMSJ\output\pdf\guia_identidad_grafica_documentacion_imsj.pdf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Contar la situación como una escena, no como una lista de requisitos.</a:t>
            </a:r>
          </a:p>
          <a:p xmlns:a="http://schemas.openxmlformats.org/drawingml/2006/main">
            <a:r>
              <a:t>Evitar afirmar que no existe información en ningún lado. Hablar de información distribuida y dificultad para encontrar la versión adecuada.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C:\Users\ASUS\Desktop\Proyecto1\Proyecto-IMSJ\docs\ingenieria_software\informe entrevista.md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Definir el producto con una sola frase.</a:t>
            </a:r>
          </a:p>
          <a:p xmlns:a="http://schemas.openxmlformats.org/drawingml/2006/main">
            <a:r>
              <a:t>Después pasar de inmediato a situaciones reales y a las pantallas.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las preguntas como guía de la demostración: ¿necesitás estudiar?, ¿noticias?, ¿una duda?, ¿no está respondida?</a:t>
            </a:r>
          </a:p>
          <a:p xmlns:a="http://schemas.openxmlformats.org/drawingml/2006/main">
            <a:r>
              <a:t>Las capturas funcionan como respaldo si la demo en vivo no está disponible.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C:\Users\ASUS\Desktop\Proyecto1\Proyecto-IMSJ\docs\ingenieria_software\Requerimientos.md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Cambiar al sistema en vivo desde esta diapositiva.</a:t>
            </a:r>
          </a:p>
          <a:p xmlns:a="http://schemas.openxmlformats.org/drawingml/2006/main">
            <a:r>
              <a:t>Recorrer el portal como una persona usuaria. No explicar todavía la arquitectura.</a:t>
            </a:r>
          </a:p>
          <a:p xmlns:a="http://schemas.openxmlformats.org/drawingml/2006/main">
            <a:r>
              <a:t>Si la demo falla, mantener esta pantalla y continuar con el recorrido narrado.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el alcance completo antes de entrar al panel o a la ingeniería.</a:t>
            </a:r>
          </a:p>
          <a:p xmlns:a="http://schemas.openxmlformats.org/drawingml/2006/main">
            <a:r>
              <a:t>Aclarar el límite: Portal Vial gestiona información y reservas, pero no emite ni renueva legalmente licencias.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C:\Users\ASUS\Desktop\Proyecto1\Proyecto-IMSJ\docs\ingenieria_software\project_charter.md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el panel como respuesta a la necesidad institucional, todavía sin entrar en el flujo de aprobación.</a:t>
            </a:r>
          </a:p>
          <a:p xmlns:a="http://schemas.openxmlformats.org/drawingml/2006/main">
            <a:r>
              <a:t>Recorrer agenda, consultas y administración de contenidos para demostrar el alcance operativo.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C:\Users\ASUS\Desktop\Proyecto1\Proyecto-IMSJ\docs\ingenieria_software\project_charter.md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es la transición entre la venta del producto y la ingeniería.</a:t>
            </a:r>
          </a:p>
          <a:p xmlns:a="http://schemas.openxmlformats.org/drawingml/2006/main">
            <a:r>
              <a:t>Frase sugerida: lo que acabamos de ver no apareció de una vez; cada función tiene un origen y una decisión.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Recorrer la secuencia completa: planteo, primera puesta en limpio, entrevista, requisitos refinados, historias, desarrollo, demo, cambios, implementación y segunda demo.</a:t>
            </a:r>
          </a:p>
          <a:p xmlns:a="http://schemas.openxmlformats.org/drawingml/2006/main">
            <a:r>
              <a:t>La aprobación pertenece al final del ciclo, después de implementar los cambios solicitados.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C:\Users\ASUS\Desktop\Proyecto1\Proyecto-IMSJ\docs\ingenieria_software\actas_reuniones.md</a:t>
            </a:r>
          </a:p>
          <a:p xmlns:a="http://schemas.openxmlformats.org/drawingml/2006/main">
            <a:r>
              <a:t>Fuente: C:\Users\ASUS\Desktop\Proyecto1\Proyecto-IMSJ\docs\ingenieria_software\actas_sprint_review.md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impacto: consultas agregó un nuevo flujo; aprobación exigió roles y estados; imágenes afectó archivos y validación.</a:t>
            </a:r>
          </a:p>
          <a:p xmlns:a="http://schemas.openxmlformats.org/drawingml/2006/main">
            <a:r>
              <a:t>Cerrar con la segunda demo y la aprobación del 13/10.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C:\Users\ASUS\Desktop\Proyecto1\Proyecto-IMSJ\docs\ingenieria_software\control_cambios.md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CC-02 como ejemplo: necesidad de consulta, RF23, US32, formulario y bandeja, prueba PT-07 y evidencia de integración.</a:t>
            </a:r>
          </a:p>
          <a:p xmlns:a="http://schemas.openxmlformats.org/drawingml/2006/main">
            <a:r>
              <a:t>Esta relación demuestra gestión del cambio y evita presentar funciones aisladas.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C:\Users\ASUS\Desktop\Proyecto1\Proyecto-IMSJ\docs\ingenieria_software\backlog.md</a:t>
            </a:r>
          </a:p>
          <a:p xmlns:a="http://schemas.openxmlformats.org/drawingml/2006/main">
            <a:r>
              <a:t>Fuente: C:\Users\ASUS\Desktop\Proyecto1\Proyecto-IMSJ\docs\ingenieria_software\plan_informe_pruebas.md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la parte técnica conectándola con el alcance, no con una lista de tecnologías.</a:t>
            </a:r>
          </a:p>
          <a:p xmlns:a="http://schemas.openxmlformats.org/drawingml/2006/main">
            <a:r>
              <a:t>Cada elección se explica mediante la necesidad que resuelve y el compromiso que introduce.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la decisión del 30/09: Laravel no era incorrecto; se eligió PHP nativo para hacer explícito el recorrido y reducir dependencias.</a:t>
            </a:r>
          </a:p>
          <a:p xmlns:a="http://schemas.openxmlformats.org/drawingml/2006/main">
            <a:r>
              <a:t>Aclarar el compromiso: al retirar el framework, el equipo asume rutas, validación y seguridad de forma explícita.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C:\Users\ASUS\Desktop\Proyecto1\Proyecto-IMSJ\docs_auxiliares\justificacion_decisiones_tecnicas.md</a:t>
            </a:r>
          </a:p>
          <a:p xmlns:a="http://schemas.openxmlformats.org/drawingml/2006/main">
            <a:r>
              <a:t>Fuente: C:\Users\ASUS\Desktop\Proyecto1\Proyecto-IMSJ\docs\ingenieria_software\control_cambios.md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un solo caso de punta a punta: POST /api/reservas.</a:t>
            </a:r>
          </a:p>
          <a:p xmlns:a="http://schemas.openxmlformats.org/drawingml/2006/main">
            <a:r>
              <a:t>Destacar que el bloqueo y la transacción evitan dos reservas sobre el último cupo.</a:t>
            </a:r>
          </a:p>
          <a:p xmlns:a="http://schemas.openxmlformats.org/drawingml/2006/main">
            <a:r>
              <a:t>Relacionar cada capa con una responsabilidad, no leer nombres de carpetas.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C:\Users\ASUS\Desktop\Proyecto1\Proyecto-IMSJ\docs\programacion_full_stack\guia_codigo_y_defensa.md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el recorrido con nombres reales del proyecto.</a:t>
            </a:r>
          </a:p>
          <a:p xmlns:a="http://schemas.openxmlformats.org/drawingml/2006/main">
            <a:r>
              <a:t>La API devuelve 201 cuando crea la reserva. Si el último cupo ya fue tomado, devuelve 422 y no persiste una segunda fila.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C:\Users\ASUS\Desktop\Proyecto1\Proyecto-IMSJ\docs\programacion_full_stack\guia_codigo_y_defensa.md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recorrer todas las tablas. Elegir dos reglas: integridad de reservas y trazabilidad de contenidos.</a:t>
            </a:r>
          </a:p>
          <a:p xmlns:a="http://schemas.openxmlformats.org/drawingml/2006/main">
            <a:r>
              <a:t>Explicar que las validaciones del frontend mejoran la experiencia, pero las restricciones y permisos se aplican en servidor y base.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C:\Users\ASUS\Desktop\Proyecto1\Proyecto-IMSJ\backend\database.sql</a:t>
            </a:r>
          </a:p>
          <a:p xmlns:a="http://schemas.openxmlformats.org/drawingml/2006/main">
            <a:r>
              <a:t>Fuente: C:\Users\ASUS\Desktop\Proyecto1\Proyecto-IMSJ\docs_auxiliares\justificacion_decisiones_tecnicas.md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Este flujo no existía de esta forma al comienzo. Nació del cambio CC-03 solicitado en la demostración del 03/09.</a:t>
            </a:r>
          </a:p>
          <a:p xmlns:a="http://schemas.openxmlformats.org/drawingml/2006/main">
            <a:r>
              <a:t>Conectar esta regla con los permisos del backend y el historial de acciones.</a:t>
            </a:r>
          </a:p>
          <a:p xmlns:a="http://schemas.openxmlformats.org/drawingml/2006/main">
            <a:r>
              <a:t>Ocultar botones en el frontend ayuda a la interfaz, pero la autorización real ocurre en la API.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C:\Users\ASUS\Desktop\Proyecto1\Proyecto-IMSJ\docs\ingenieria_software\Requerimientos.md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por qué hay dos contenedores: actualizar la aplicación sin reemplazar los datos.</a:t>
            </a:r>
          </a:p>
          <a:p xmlns:a="http://schemas.openxmlformats.org/drawingml/2006/main">
            <a:r>
              <a:t>Aclarar que MySQL no publica su puerto hacia la red.</a:t>
            </a:r>
          </a:p>
          <a:p xmlns:a="http://schemas.openxmlformats.org/drawingml/2006/main">
            <a:r>
              <a:t>No presentar 90 usuarios como capacidad comprobada. Es un objetivo de dimensionamiento pendiente de validación.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C:\Users\ASUS\Desktop\Proyecto1\Proyecto-IMSJ\docs\administracion_ssoo\justificacion-tecnologica.md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Distinguir controles preventivos de técnicas de verificación.</a:t>
            </a:r>
          </a:p>
          <a:p xmlns:a="http://schemas.openxmlformats.org/drawingml/2006/main">
            <a:r>
              <a:t>No decir que una herramienta garantiza seguridad. Explicar alcance y revalidación de hallazgos.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C:\Users\ASUS\Desktop\Proyecto1\Proyecto-IMSJ\docs\electiva_ciberseguridad\checklist_ciberseguridad_entrega_final.md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Dar los números con su significado. Las 192 comprobaciones no equivalen a cobertura de líneas.</a:t>
            </a:r>
          </a:p>
          <a:p xmlns:a="http://schemas.openxmlformats.org/drawingml/2006/main">
            <a:r>
              <a:t>Explicar el caso 201/422: exactamente una reserva persistió cuando dos procesos compitieron por el último cupo.</a:t>
            </a:r>
          </a:p>
          <a:p xmlns:a="http://schemas.openxmlformats.org/drawingml/2006/main">
            <a:r>
              <a:t>Mantener visible la limitación sobre la prueba de carga.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C:\Users\ASUS\Desktop\Proyecto1\Proyecto-IMSJ\docs\ingenieria_software\plan_informe_pruebas.md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retomando a los dos actores del comienzo.</a:t>
            </a:r>
          </a:p>
          <a:p xmlns:a="http://schemas.openxmlformats.org/drawingml/2006/main">
            <a:r>
              <a:t>Frase sugerida: Portal Vial convierte dos necesidades en un sistema gestionable, comprobable y preparado para evolucionar.</a:t>
            </a:r>
          </a:p>
          <a:p xmlns:a="http://schemas.openxmlformats.org/drawingml/2006/main">
            <a:r>
              <a:t>Dejar la diapositiva visible durante las preguntas.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acebeb57064c8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8d5a4fd80a4b7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d8afc1290e4d3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51cba581a14a3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f371e64a9f4e4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c3a2b0d4d547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1BC62C8-4189-4F57-8F35-67A902EF0C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AA53ED9-88B3-4D36-AA59-B153BD1CDE2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96F797E-5F32-4A9B-907A-12F83D2E57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3CE9F27-A0D3-496B-9CD5-0BDE4B6B2D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7DA36B3-0A7F-4956-8EA4-71A740BD2B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98B6565-B553-4024-8546-7C3F74B45F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418883B-4264-4C83-B7FE-E254B2B3AB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1C52674-3946-4931-85B5-F83F2037923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90E7DCF-A7D4-4E05-BD03-865078FF92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CC592D5-B8B6-42BC-9DF8-69335ABDB89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ef57d01629427f" /><Relationship Type="http://schemas.openxmlformats.org/officeDocument/2006/relationships/slideLayout" Target="/ppt/slideLayouts/slideLayout1.xml" Id="Raeb7ab2f9c7d4c12" /><Relationship Type="http://schemas.openxmlformats.org/officeDocument/2006/relationships/slideLayout" Target="/ppt/slideLayouts/slideLayout2.xml" Id="R2b42c9fd59284247" /><Relationship Type="http://schemas.openxmlformats.org/officeDocument/2006/relationships/slideLayout" Target="/ppt/slideLayouts/slideLayout3.xml" Id="Raf7f8bcf770440d9" /><Relationship Type="http://schemas.openxmlformats.org/officeDocument/2006/relationships/slideLayout" Target="/ppt/slideLayouts/slideLayout4.xml" Id="R9531ca26780242a1" /><Relationship Type="http://schemas.openxmlformats.org/officeDocument/2006/relationships/slideLayout" Target="/ppt/slideLayouts/slideLayout5.xml" Id="Rcd250d7dc7f948b0" /><Relationship Type="http://schemas.openxmlformats.org/officeDocument/2006/relationships/slideLayout" Target="/ppt/slideLayouts/slideLayout6.xml" Id="R8c44f1aeab284e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b7ab2f9c7d4c12"/>
    <p:sldLayoutId xmlns:r="http://schemas.openxmlformats.org/officeDocument/2006/relationships" id="2147483650" r:id="R2b42c9fd59284247"/>
    <p:sldLayoutId xmlns:r="http://schemas.openxmlformats.org/officeDocument/2006/relationships" id="2147483651" r:id="Raf7f8bcf770440d9"/>
    <p:sldLayoutId xmlns:r="http://schemas.openxmlformats.org/officeDocument/2006/relationships" id="2147483652" r:id="R9531ca26780242a1"/>
    <p:sldLayoutId xmlns:r="http://schemas.openxmlformats.org/officeDocument/2006/relationships" id="2147483653" r:id="Rcd250d7dc7f948b0"/>
    <p:sldLayoutId xmlns:r="http://schemas.openxmlformats.org/officeDocument/2006/relationships" id="2147483654" r:id="R8c44f1aeab284e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0355c77b3444b2" /><Relationship Type="http://schemas.openxmlformats.org/officeDocument/2006/relationships/image" Target="/ppt/media/image.png" Id="Rdbad8062a8ff40c5" /><Relationship Type="http://schemas.openxmlformats.org/officeDocument/2006/relationships/image" Target="/ppt/media/image2.png" Id="Reea09908275847b5" /><Relationship Type="http://schemas.openxmlformats.org/officeDocument/2006/relationships/image" Target="/ppt/media/image3.png" Id="R31d0d117ae5a42a9" /><Relationship Type="http://schemas.openxmlformats.org/officeDocument/2006/relationships/notesSlide" Target="/ppt/notesSlides/notesSlide1.xml" Id="Rbb1c6de20cf240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a73a3f9817481b" /><Relationship Type="http://schemas.openxmlformats.org/officeDocument/2006/relationships/notesSlide" Target="/ppt/notesSlides/notesSlide2.xml" Id="Rad3e1ce6d85f41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f09812edc44cbf" /><Relationship Type="http://schemas.openxmlformats.org/officeDocument/2006/relationships/notesSlide" Target="/ppt/notesSlides/notesSlide3.xml" Id="R4f8cbe3f34c443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4f3c5403a64ef7" /><Relationship Type="http://schemas.openxmlformats.org/officeDocument/2006/relationships/image" Target="/ppt/media/image4.png" Id="Ra0c7e9005c3a44d1" /><Relationship Type="http://schemas.openxmlformats.org/officeDocument/2006/relationships/image" Target="/ppt/media/image5.png" Id="Red4d4d773a1442c7" /><Relationship Type="http://schemas.openxmlformats.org/officeDocument/2006/relationships/notesSlide" Target="/ppt/notesSlides/notesSlide4.xml" Id="Rd641300b720948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bae843511d4cf8" /><Relationship Type="http://schemas.openxmlformats.org/officeDocument/2006/relationships/image" Target="/ppt/media/image6.png" Id="Rb843754c82594892" /><Relationship Type="http://schemas.openxmlformats.org/officeDocument/2006/relationships/notesSlide" Target="/ppt/notesSlides/notesSlide5.xml" Id="R5aacf2808f6c44c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c4e24ff36a4778" /><Relationship Type="http://schemas.openxmlformats.org/officeDocument/2006/relationships/notesSlide" Target="/ppt/notesSlides/notesSlide6.xml" Id="Rbf00c76029bc40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42f7c311f84a2d" /><Relationship Type="http://schemas.openxmlformats.org/officeDocument/2006/relationships/image" Target="/ppt/media/image7.png" Id="Reae9c4fc6c314818" /><Relationship Type="http://schemas.openxmlformats.org/officeDocument/2006/relationships/image" Target="/ppt/media/image8.png" Id="R9a45bbb596be4523" /><Relationship Type="http://schemas.openxmlformats.org/officeDocument/2006/relationships/notesSlide" Target="/ppt/notesSlides/notesSlide7.xml" Id="R03ade286d94844c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aed3a194394fa8" /><Relationship Type="http://schemas.openxmlformats.org/officeDocument/2006/relationships/notesSlide" Target="/ppt/notesSlides/notesSlide8.xml" Id="R6c12d08537a44c0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0989d81d1b4ee6" /><Relationship Type="http://schemas.openxmlformats.org/officeDocument/2006/relationships/notesSlide" Target="/ppt/notesSlides/notesSlide9.xml" Id="Rd34e400c08a64a1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2a3b262ebb4215" /><Relationship Type="http://schemas.openxmlformats.org/officeDocument/2006/relationships/notesSlide" Target="/ppt/notesSlides/notesSlide10.xml" Id="Ra7e0a7cf1c2e48e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b4a7794223498d" /><Relationship Type="http://schemas.openxmlformats.org/officeDocument/2006/relationships/notesSlide" Target="/ppt/notesSlides/notesSlide11.xml" Id="Rff8cb35d2fba413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bcfa301b864d64" /><Relationship Type="http://schemas.openxmlformats.org/officeDocument/2006/relationships/notesSlide" Target="/ppt/notesSlides/notesSlide12.xml" Id="R277f610f1b6243d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7019222dd14377" /><Relationship Type="http://schemas.openxmlformats.org/officeDocument/2006/relationships/notesSlide" Target="/ppt/notesSlides/notesSlide13.xml" Id="R50a729a85ab84e6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1bf2fe763f4e73" /><Relationship Type="http://schemas.openxmlformats.org/officeDocument/2006/relationships/notesSlide" Target="/ppt/notesSlides/notesSlide14.xml" Id="Rd72d8afe3b92482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556ee856d7496a" /><Relationship Type="http://schemas.openxmlformats.org/officeDocument/2006/relationships/notesSlide" Target="/ppt/notesSlides/notesSlide15.xml" Id="R7df182787cc241f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7d08eb0d544af9" /><Relationship Type="http://schemas.openxmlformats.org/officeDocument/2006/relationships/notesSlide" Target="/ppt/notesSlides/notesSlide16.xml" Id="R5821e135bcf5445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0a5d2c5ed24c17" /><Relationship Type="http://schemas.openxmlformats.org/officeDocument/2006/relationships/notesSlide" Target="/ppt/notesSlides/notesSlide17.xml" Id="R6015bfa127244ee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a7a29d09a740e1" /><Relationship Type="http://schemas.openxmlformats.org/officeDocument/2006/relationships/notesSlide" Target="/ppt/notesSlides/notesSlide18.xml" Id="R28b9377f44ab498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d3844db79b42e1" /><Relationship Type="http://schemas.openxmlformats.org/officeDocument/2006/relationships/notesSlide" Target="/ppt/notesSlides/notesSlide19.xml" Id="R181767693597402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b437da21634249" /><Relationship Type="http://schemas.openxmlformats.org/officeDocument/2006/relationships/notesSlide" Target="/ppt/notesSlides/notesSlide20.xml" Id="R819cfb777afb492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6b03c6aee941fa" /><Relationship Type="http://schemas.openxmlformats.org/officeDocument/2006/relationships/image" Target="/ppt/media/image9.png" Id="R1eefdae787f746b4" /><Relationship Type="http://schemas.openxmlformats.org/officeDocument/2006/relationships/image" Target="/ppt/media/image10.png" Id="R4d725e4a3e444f23" /><Relationship Type="http://schemas.openxmlformats.org/officeDocument/2006/relationships/notesSlide" Target="/ppt/notesSlides/notesSlide21.xml" Id="R0dc57ba842934ee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0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6885FA-CA5E-4425-8C49-BED8322B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4D918B-E60C-4029-B83E-10ABA135BA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ad8062a8ff40c5"/>
          <a:srcRect xmlns:a="http://schemas.openxmlformats.org/drawingml/2006/main" l="25926" t="0" r="259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73D734-ABDB-4632-8398-F1B6C0D6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0"/>
            <a:ext cx="361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3E7A76-22DF-4CB9-AC18-DE590AE69E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a09908275847b5"/>
          <a:stretch xmlns:a="http://schemas.openxmlformats.org/drawingml/2006/main"/>
        </p:blipFill>
        <p:spPr>
          <a:xfrm xmlns:a="http://schemas.openxmlformats.org/drawingml/2006/main">
            <a:off x="628650" y="565058"/>
            <a:ext cx="647700" cy="58438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3EF4E4-D198-463D-831A-5CF2ECC2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715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125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125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125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125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125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125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125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125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125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C7D5F0"/>
                </a:solidFill>
                <a:latin typeface="Segoe UI"/>
                <a:ea typeface="Segoe UI"/>
                <a:cs typeface="Segoe UI"/>
              </a:rPr>
              <a:t>INTENDENCIA DE SAN JOSÉ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BCA9B0-BDDE-4772-9367-BB7D1876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8001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EDUCACIÓN VIAL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39363B-3B3B-4E36-BCF9-82D9880E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2095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C3670D-45DF-4901-8654-5F02BEB4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D94D12"/>
                </a:solidFill>
                <a:latin typeface="Segoe UI"/>
                <a:ea typeface="Segoe UI"/>
                <a:cs typeface="Segoe UI"/>
              </a:rPr>
              <a:t>DEFENSA DEL PROYECTO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50275C-1A73-4530-9FD8-271AD018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14600"/>
            <a:ext cx="609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Portal Vial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BB857A-B33E-415F-9B74-F4BB9284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24250"/>
            <a:ext cx="581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9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9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9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9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9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9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9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9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9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DCE5F7"/>
                </a:solidFill>
                <a:latin typeface="Segoe UI"/>
                <a:ea typeface="Segoe UI"/>
                <a:cs typeface="Segoe UI"/>
              </a:rPr>
              <a:t>Dos necesidades. Una solución gestionable.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BCFAE9-4409-4667-8D97-DE1EEB95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Proyecto académico | RC5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11105A-F5ED-4CD6-8D7C-53B99625DA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d0d117ae5a42a9"/>
          <a:stretch xmlns:a="http://schemas.openxmlformats.org/drawingml/2006/main"/>
        </p:blipFill>
        <p:spPr>
          <a:xfrm xmlns:a="http://schemas.openxmlformats.org/drawingml/2006/main">
            <a:off x="6010275" y="5924550"/>
            <a:ext cx="476250" cy="47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003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DA77CD-B01B-4CDD-95B4-3180C5E3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4770CA-22E6-4CB0-AB9E-A26F810D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PORTAL VIAL | DEFENSA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28F631-CE8D-4209-93DF-78C788BE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EL PROBLEMA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BEF4A1-3742-4C75-B15B-B96E484D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55D740-76C6-4014-A082-8817E5F3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913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6F1646-F606-4B86-864D-3C1BB64C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Dos perspectivas, una misma brecha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7D41D7-EE5B-402A-9CFB-C3BC1FD7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El acceso a la información y la capacidad de comunicar estaban desconectados.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151185-4114-4A09-BC94-40B298E93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857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420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069687-E2FD-43FD-B706-4ED9E4D1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764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Un joven que quiere prepararse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6C3407-5D4E-44CA-8AEC-E4237BA1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09850"/>
            <a:ext cx="400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Necesita saber qué estudiar, dónde practicar y cómo resolver una duda sin recorrer canales dispersos.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88E9BC-80FC-4326-BE4C-44392EDC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81200"/>
            <a:ext cx="1905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D3FC13-290E-45BF-B23F-89D4BBD4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857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4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4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4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4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4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4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4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4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4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420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9A426D-3524-4B55-B885-297DAE8F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0764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520"/>
          </a:bodyPr>
          <a:lstStyle xmlns:a="http://schemas.openxmlformats.org/drawingml/2006/main">
            <a:def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Una Dirección que necesita llegar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F92332-A01F-4725-90F9-B25410EC9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609850"/>
            <a:ext cx="3905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Necesita comunicar, concientizar y mantener información vigente sin depender del equipo desarrollador.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FF978A-B289-4232-8F87-9936E368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71950"/>
            <a:ext cx="40005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2759CD-24A9-40B4-9E29-4BCEAECEC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2435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C85218"/>
                </a:solidFill>
                <a:latin typeface="Segoe UI"/>
                <a:ea typeface="Segoe UI"/>
                <a:cs typeface="Segoe UI"/>
              </a:rPr>
              <a:t>Información difícil de localizar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E5E23E-12E2-41D8-9586-74B5673B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171950"/>
            <a:ext cx="390525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8F2D47-9E6A-4FDD-9C21-F7FD9B2FA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267200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Una barrera para acercarse a los jóvenes</a:t>
            </a:r>
          </a:p>
        </p:txBody>
      </p:sp>
    </p:spTree>
    <p:extLst>
      <p:ext uri="{BB962C8B-B14F-4D97-AF65-F5344CB8AC3E}">
        <p14:creationId xmlns:p14="http://schemas.microsoft.com/office/powerpoint/2010/main" val="2311994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220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425706-4A8C-4EAB-A3EC-26294A933DAA}"/>
              </a:ext>
            </a:extLst>
          </p:cNvPr>
          <p:cNvCxnSpPr>
            <a:stCxn xmlns:a="http://schemas.openxmlformats.org/drawingml/2006/main" id="7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7429500" y="3267075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8FA9D7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312444-5C5B-460A-8C30-40D60457863A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238500" y="3267075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8FA9D7"/>
            </a:solidFill>
            <a:prstDash val="solid"/>
            <a:headEnd type="triangle" w="sm" len="sm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C1897C-5094-4AD8-9813-7267A79C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LA SOLUCIÓN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94BF21-6F49-4B8C-94F2-70C82709D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Portal Vial conecta ambas necesidades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7A304A-FFDD-442D-AE0E-BC9A8857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23812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74FBFA-D010-48A9-B0CD-532D642C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52750"/>
            <a:ext cx="215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CIUDADANÍA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837415-8717-4EE5-855A-5E829E8D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28900"/>
            <a:ext cx="2667000" cy="1276350"/>
          </a:xfrm>
          <a:prstGeom xmlns:a="http://schemas.openxmlformats.org/drawingml/2006/main" prst="roundRect">
            <a:avLst>
              <a:gd name="adj" fmla="val 17910"/>
            </a:avLst>
          </a:prstGeom>
          <a:solidFill xmlns:a="http://schemas.openxmlformats.org/drawingml/2006/main">
            <a:srgbClr val="FF7A30"/>
          </a:solidFill>
          <a:ln xmlns:a="http://schemas.openxmlformats.org/drawingml/2006/main" w="14288">
            <a:solidFill>
              <a:srgbClr val="FF7A3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10DC7F-A5E9-421F-9F65-98698F73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705100"/>
            <a:ext cx="24384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PORTAL VIAL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9E49E9-5637-410D-821A-ED6C804B1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76550"/>
            <a:ext cx="23812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A43AF4-2BA2-4D5C-BA72-1A82AD75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52750"/>
            <a:ext cx="215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DIRECCIÓN DE TRÁNSITO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8FAE34-7A74-4F38-8389-D7077356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2571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DCE5F7"/>
                </a:solidFill>
                <a:latin typeface="Segoe UI"/>
                <a:ea typeface="Segoe UI"/>
                <a:cs typeface="Segoe UI"/>
              </a:rPr>
              <a:t>Consulta, estudia y realiza gestiones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1348BB-4DDB-4430-8018-28C33473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43350"/>
            <a:ext cx="276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DCE5F7"/>
                </a:solidFill>
                <a:latin typeface="Segoe UI"/>
                <a:ea typeface="Segoe UI"/>
                <a:cs typeface="Segoe UI"/>
              </a:rPr>
              <a:t>Publica, revisa y mantiene contenidos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19D64A-7EC4-4F3F-B5BA-A193ADC9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91150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Un canal ciudadano y una herramienta de gestión en el mismo sistema</a:t>
            </a:r>
          </a:p>
        </p:txBody>
      </p:sp>
    </p:spTree>
    <p:extLst>
      <p:ext uri="{BB962C8B-B14F-4D97-AF65-F5344CB8AC3E}">
        <p14:creationId xmlns:p14="http://schemas.microsoft.com/office/powerpoint/2010/main" val="9570138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C4A3A3-2F59-4A27-A1D8-0D0FAABC6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B9FE88-A0CE-4B40-B549-058F21C9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PORTAL VIAL | DEFENSA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7EBA02-96FD-4921-8AA4-97892BD0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LA SOLUCIÓN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36DE8F-EE3E-474A-8D55-D4BAB0F6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184FAC-678A-411F-AB78-E6DC0BF7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913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5EA755-8B12-4061-8A02-7C8F0363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Cada necesidad activa una respuesta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259807-283E-462A-9A11-3A9C38DC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Las funciones aparecen cuando la historia las necesita.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D71A6D-E30B-49EE-960F-23EB46CB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5FDB09-6DCC-4ED5-A981-C7D51F86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764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Prepararse para el teórico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FE4836-5036-477E-9200-F3D2208E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764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121210-C79B-4043-9F7D-ACA9BD7A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0764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Materiales y simulacro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634BF5-AF24-48C2-8991-99CA0549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50CC80-9014-4252-A8B2-D25450B5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527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Conocer novedades vigentes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DB2AC0-128F-4738-82BA-F8579573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527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28F4D9-E2C7-4539-801F-3F624B24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9527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Noticias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816F53-7DBA-4EE8-8ECC-FE222E41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82AF07-377F-4131-BDD1-87028AD0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290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Resolver una duda frecuente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4CF745-1EC0-4437-9BB7-79980674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290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ADE896-A05D-4FB4-B22D-F6C99FAF2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8290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Preguntas por categoría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AEEE8E-7054-4BAD-B7BF-C8B42503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29F37B-428E-4E9C-94FE-30EC9E0D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053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Consultar algo no publicado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264209-CBD1-4D5E-978F-2E0062A5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9053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F3C8D4-5D9A-46BA-85FD-F192B0CEF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7053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Formulario y bandeja interna</a:t>
            </a:r>
          </a:p>
        </p:txBody>
      </p:sp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61F83A-1C8D-4008-B4C3-9EE9FBED0C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c7e9005c3a44d1"/>
          <a:srcRect xmlns:a="http://schemas.openxmlformats.org/drawingml/2006/main" l="3624" t="0" r="36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0" y="2000250"/>
            <a:ext cx="2952750" cy="1790700"/>
          </a:xfrm>
          <a:prstGeom xmlns:a="http://schemas.openxmlformats.org/drawingml/2006/main" prst="roundRect">
            <a:avLst>
              <a:gd name="adj" fmla="val 7447"/>
            </a:avLst>
          </a:prstGeom>
        </p:spPr>
      </p:pic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AF258F-E8F5-44BD-A5E7-7869C480B9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4d4d773a1442c7"/>
          <a:srcRect xmlns:a="http://schemas.openxmlformats.org/drawingml/2006/main" l="3624" t="0" r="36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0" y="4057650"/>
            <a:ext cx="2952750" cy="1790700"/>
          </a:xfrm>
          <a:prstGeom xmlns:a="http://schemas.openxmlformats.org/drawingml/2006/main" prst="roundRect">
            <a:avLst>
              <a:gd name="adj" fmla="val 7447"/>
            </a:avLst>
          </a:prstGeom>
        </p:spPr>
      </p:pic>
    </p:spTree>
    <p:extLst>
      <p:ext uri="{BB962C8B-B14F-4D97-AF65-F5344CB8AC3E}">
        <p14:creationId xmlns:p14="http://schemas.microsoft.com/office/powerpoint/2010/main" val="6468331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220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5F44AF-36C3-4EDA-9173-71989671B5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43754c8259489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61B954-3EB9-4115-A2BF-389CC8B3E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E3B6F7-B6C4-4616-9A2A-5B393B0A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DEMO 1  |  PORTAL CIUDADANO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2B5465-F0CE-4B21-8FFB-F0849F63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1450"/>
            <a:ext cx="4191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4A4F01-FED8-4910-A29D-0907B2356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14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D94D12"/>
                </a:solidFill>
                <a:latin typeface="Segoe UI"/>
                <a:ea typeface="Segoe UI"/>
                <a:cs typeface="Segoe UI"/>
              </a:rPr>
              <a:t>Noticias · estudio · FAQ · simulador · agenda</a:t>
            </a:r>
          </a:p>
        </p:txBody>
      </p:sp>
    </p:spTree>
    <p:extLst>
      <p:ext uri="{BB962C8B-B14F-4D97-AF65-F5344CB8AC3E}">
        <p14:creationId xmlns:p14="http://schemas.microsoft.com/office/powerpoint/2010/main" val="5632426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A8116D-2BA7-4643-8CF6-FC54BCB7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B55A46-1C9C-46D3-BDA1-118EE476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PORTAL VIAL | DEFENSA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6E4083-369D-487B-83F1-6D3AB1CF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ALCANCE DEL PRODUCTO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D95FB9-7012-49D3-9220-052391F5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3DAC06-902D-4C5A-931C-DD36F8B2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913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352A29-6F8C-4B85-BE32-FFC0FE74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El alcance final combina información, práctica y gestión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368CA8-5D5E-4BC6-9B2F-FB8A17E3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Dos interfaces consumen la misma API y responden a recorridos diferentes.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12F3F8-838E-4D40-A739-C3B866523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PORTAL CIUDADANO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D08406-23A3-4AC0-8ADF-F7797CD4B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A16043-5878-466F-BE88-27E2FF0A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241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Noticias y vigencia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0FB7CE-C92C-4CFF-8439-98A5ED69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280B44-9939-4400-B9FD-2220B2AA5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575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Materiales de estudio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18FA10-3545-4A26-85E0-19FFCDA7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95541D-5EE0-48F2-8B75-B6C753FC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909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FAQ por categorías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0A8CB0-65F5-4D8F-AF19-E39EC278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FCCC3D-AC68-479B-9D67-5BD0154D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243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Simulacro con corrección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A52123-0C8B-451F-A751-E19A0967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8F6681-84C1-483A-A3D6-2F613B4A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577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Consultas ciudadanas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C5574C-FB3C-4152-A41D-0ADF0A1B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DD72D2-228A-4C50-BC9E-B2F16784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911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Agenda, renovación y cancelación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4BD908-94E1-4F84-8420-F97267CA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66900"/>
            <a:ext cx="19050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63D114-D5D9-414A-B23F-82EC5734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PANEL IMSJ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FCC778-0A6D-4112-BC85-657F5264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F0F4B8-0471-4992-9D6D-D214F63D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241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Noticias, materiales y FAQ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42A7D9-36A3-4DAD-BBE5-2EA61064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1465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375EBC-2149-4227-A44A-C994E5520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575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Banco de preguntas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7CF49F-69BC-4639-914E-A66D894D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4805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A42E57-389F-4482-ACFA-5D72A1F8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909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Franjas y agenda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BB5B01-87AA-445B-8ABA-B8509673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8145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0FD453-C14A-468D-9986-0FBE30A9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243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Bandeja de consultas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9CD65E-7B18-4290-95E5-359CF06F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1485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418FA9-3432-4E4C-9676-8947089D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577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Usuarios y permisos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C7F5DC-349C-4A5A-B288-F26AE613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4825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BE2C09-F96C-4197-AB5D-6612BE59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911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Historial de acciones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CF18C5-1D83-461D-967D-C8ABC490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810250"/>
            <a:ext cx="76962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17B7FA0-71AE-4FF9-AD8C-651C7072E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8864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C85218"/>
                </a:solidFill>
                <a:latin typeface="Segoe UI"/>
                <a:ea typeface="Segoe UI"/>
                <a:cs typeface="Segoe UI"/>
              </a:rPr>
              <a:t>El sistema reserva franjas. La emisión o renovación legal de la libreta queda fuera del alcance.</a:t>
            </a:r>
          </a:p>
        </p:txBody>
      </p:sp>
    </p:spTree>
    <p:extLst>
      <p:ext uri="{BB962C8B-B14F-4D97-AF65-F5344CB8AC3E}">
        <p14:creationId xmlns:p14="http://schemas.microsoft.com/office/powerpoint/2010/main" val="17315009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3812B4-1519-4FD4-8B07-1E82502F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2A4BC5-F1B6-474E-A11B-3F43A67A8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PORTAL VIAL | DEFENSA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A676B5-199C-4C78-A9BA-C07ECD15F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LA SOLUCIÓN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C3FA05-8881-4EA8-B9D3-2A482414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FAAE19-A711-470C-8AC1-7942C2E7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913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4F1132-5897-4220-A31A-2BE87D20D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La Dirección administra la operación diaria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19A4D2-9B76-4615-815C-36D1E5B8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Agenda y consultas muestran que el panel va más allá de mantener contenido.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33D1D2-7B61-4BDE-982C-A02BAF2325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e9c4fc6c314818"/>
          <a:srcRect xmlns:a="http://schemas.openxmlformats.org/drawingml/2006/main" l="2907" t="0" r="290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809750"/>
            <a:ext cx="6858000" cy="4095750"/>
          </a:xfrm>
          <a:prstGeom xmlns:a="http://schemas.openxmlformats.org/drawingml/2006/main" prst="roundRect">
            <a:avLst>
              <a:gd name="adj" fmla="val 3256"/>
            </a:avLst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B7DD2C-05CA-4E1F-A89D-B3BBCC6E49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45bbb596be4523"/>
          <a:srcRect xmlns:a="http://schemas.openxmlformats.org/drawingml/2006/main" l="7386" t="0" r="738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0" y="1809750"/>
            <a:ext cx="3810000" cy="2514600"/>
          </a:xfrm>
          <a:prstGeom xmlns:a="http://schemas.openxmlformats.org/drawingml/2006/main" prst="roundRect">
            <a:avLst>
              <a:gd name="adj" fmla="val 5303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35ADAC-85D8-4735-82D5-3F9D1146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552950"/>
            <a:ext cx="38100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122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EAFAEB-DD8F-4FF3-A19B-A651EA6F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781550"/>
            <a:ext cx="320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917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Una misma herramienta permite consultar agenda, leer mensajes y mantener el contenido que ve la ciudadanía.</a:t>
            </a:r>
          </a:p>
        </p:txBody>
      </p:sp>
    </p:spTree>
    <p:extLst>
      <p:ext uri="{BB962C8B-B14F-4D97-AF65-F5344CB8AC3E}">
        <p14:creationId xmlns:p14="http://schemas.microsoft.com/office/powerpoint/2010/main" val="9464773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220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82168F-B5E5-4AB6-B557-E5C71BE50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D1BC20-AB1A-4B94-A066-DD63C617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00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ACTO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51BCFC-D7FE-4799-B7E6-28BA6AF1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933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Nada sale de la nada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465D91-BBDC-47DA-94F0-D694CAA7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876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DCE5F7"/>
                </a:solidFill>
                <a:latin typeface="Segoe UI"/>
                <a:ea typeface="Segoe UI"/>
                <a:cs typeface="Segoe UI"/>
              </a:rPr>
              <a:t>La solución creció a través de decisiones registradas, demostraciones y cambios validados.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A27F96-BBCE-403E-8DDC-9290CE94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838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BBBE89-6BC5-4EEC-9B79-9690F7D9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NECESIDAD  ·  REQUISITO  ·  IMPLEMENTACIÓN  ·  EVIDENCIA</a:t>
            </a:r>
          </a:p>
        </p:txBody>
      </p:sp>
    </p:spTree>
    <p:extLst>
      <p:ext uri="{BB962C8B-B14F-4D97-AF65-F5344CB8AC3E}">
        <p14:creationId xmlns:p14="http://schemas.microsoft.com/office/powerpoint/2010/main" val="780996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B8CBF02-2511-4B21-A7B7-7EF1CD4AD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5B071D-D7D5-4A52-817E-97F2E5F3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PORTAL VIAL | DEFENSA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B3AEB8-0F78-4D2A-A8B6-8EDBBCA5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GESTIÓN DEL PROYECTO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C56854-3607-4303-9F06-D9FB289D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B7FA45-84BA-4894-82B1-B9366775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913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3841B0-C434-424C-A05D-43820347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Cada etapa produjo la entrada de la siguiente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CF359B-B905-44D9-AEA2-FCB164CD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El proceso real alternó análisis, construcción, demostración y ajuste.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399930-90E0-416D-B171-61DF37CE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DESCUBRIR Y DEFINIR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93B522-8E55-4C25-BADE-99361262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981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8ACBE1-56B5-4C7A-BB9D-354C9540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00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7CAC6B-F8E0-4234-90F5-DBAC6BD5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PLANTEO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8ADDBF-FF58-437E-893E-E9438399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Necesidad general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B7EDA7-CC04-4766-ABBC-D8FB3DC3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00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C64D7-EA04-4640-892E-538D63525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PRIMERA</a:t>
            </a:r>
          </a:p>
          <a:p xmlns:a="http://schemas.openxmlformats.org/drawingml/2006/main">
            <a: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PUESTA EN LIMPIO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DC4B20-05C3-4AEE-ADB3-86FA1C8B1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7655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Borrador de requisitos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0082AD-2D8F-4FF0-80CC-77EA8372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400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9EC41E-9A6B-4084-978F-0C82F284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8120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09 JUL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16A99D-B54B-4B16-9946-4A43E7EF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7655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Entrevista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F7AE6D-BDEE-4D6F-9160-C7DE2666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00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C943E0-C8D9-49AC-A961-E7CE4A62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98120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REQUISITOS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651BC9-5D67-4B17-AB92-AA36DBC4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87655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Versión refinada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661E1A-BFA2-4447-A686-39073159F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400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F0426F-3BA0-4E0A-A409-BC63F005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98120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22–28 JUL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595E99-D5BD-4CFE-8A58-E2C45939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87655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Historias y backlog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18A26D-501A-44B6-9084-4ABAE3CB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CONSTRUIR, MOSTRAR Y AJUSTAR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4AF7C4-DD6A-40F7-BBFC-3CCC3EFF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981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E2F788-5A9E-4ECF-A110-EBCD4772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00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8D40BE-670A-4D68-A4E0-A081E01E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JUL–SEP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B70BC1-113A-408D-B36E-5C216B27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76800"/>
            <a:ext cx="177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Sprints 1–4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35EC7E-2C33-4AB6-B4BC-261D3E5D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400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17185E-DD86-4320-8291-3E76BD16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98145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03 SEP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55F1B1-18F6-419E-A7E1-BF50E057E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876800"/>
            <a:ext cx="177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Demo al cliente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4A7CE4-D372-446C-9678-97BF46E2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400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D4CD23-7670-4305-A2E2-8B507482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98145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CAMBIOS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E953CFF-B44A-4F1F-8114-E9585E7B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876800"/>
            <a:ext cx="177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Registro y análisis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69F84A5-6F74-4F57-ABC7-FEBC433C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00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9BC3EBD-2878-4E68-BBAD-BA287BDB4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98145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SEP–OCT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896818B-4BA6-47C8-85AB-A7655155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876800"/>
            <a:ext cx="177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Sprint 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48E4F70-8EF4-4E7B-9CC2-3809B104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4400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8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6C8154A-3573-4C20-AD2D-E2275DB9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98145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C8A5A"/>
                </a:solidFill>
                <a:latin typeface="Segoe UI"/>
                <a:ea typeface="Segoe UI"/>
                <a:cs typeface="Segoe UI"/>
              </a:rPr>
              <a:t>13 OCT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828281E-EDC8-4ED7-9DA2-AB64C07E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876800"/>
            <a:ext cx="177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Demo y aprobación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1733838-F54C-4E1F-B6E8-8475B635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695950"/>
            <a:ext cx="91059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3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C673A7E-02E0-4EC8-9CFC-5822CE93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772150"/>
            <a:ext cx="861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B1F2E"/>
                </a:solidFill>
                <a:latin typeface="Segoe UI"/>
                <a:ea typeface="Segoe UI"/>
                <a:cs typeface="Segoe UI"/>
              </a:rPr>
              <a:t>Ningún cambio quedó solo en una conversación: se registró, se implementó y volvió a demostrarse.</a:t>
            </a:r>
          </a:p>
        </p:txBody>
      </p:sp>
    </p:spTree>
    <p:extLst>
      <p:ext uri="{BB962C8B-B14F-4D97-AF65-F5344CB8AC3E}">
        <p14:creationId xmlns:p14="http://schemas.microsoft.com/office/powerpoint/2010/main" val="11081364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5FC862-9C03-4073-9F6E-FC0B94F0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1F8982-B939-4F91-ACCC-47A6F265D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PORTAL VIAL | DEFENSA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ECA2A1-1477-4968-A277-67477950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CONTROL DE CAMBIOS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7370B5-7703-4EDF-91ED-06AC3C1D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4095F9-51C3-43CA-B8B9-46EDE15F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913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69D1BE-78B6-42EB-986A-3B18CF174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La primera demo cambió el producto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C3F87A-62E7-43E9-8CA7-67D3B85E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El 3 de septiembre el cliente pidió tres ampliaciones que alteraron alcance, datos y permisos.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BEC6D6-47D3-4CAD-901C-FD7B53B9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6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46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46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46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46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46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46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46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46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46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465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03/09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087601-8C28-4996-A773-88311B11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DEMO CON CLIENTE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AA7B9D-0AD4-48D8-8863-5DCBB3DD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81200"/>
            <a:ext cx="190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65ABFA-D0EF-4C3B-84BF-E395C6D3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3835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76BAEA-C7CA-4498-AC5E-E93F0BCF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383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Consultas ciudadanas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7077A1-C078-4674-8B15-39B4EA43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383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Formulario público y bandeja de lectura en el panel.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44D72F-6338-4454-B08E-3B60A2C2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33700"/>
            <a:ext cx="7486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12A25B-198C-4C31-A843-B3391CEF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20040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268289-817F-4EAC-B7BA-12F62A8EF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004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Aprobación separada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E48A84-0BCD-4BB3-9C5A-A3E5FBE9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0040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La Directora revisa antes de que el personal publique.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0F8BD5-C946-4FDE-B964-44178B72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95750"/>
            <a:ext cx="7486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660C74-5F87-4E72-8A4F-2CC0CE61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36245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BB8A2-848D-4231-9BF7-918331AD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3624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Imágenes en el simulacro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5D3638-914C-4F96-B291-0834B040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624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Las preguntas pueden representar situaciones reales de tránsito.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557A11-25A5-48A1-A92A-C90F574F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619750"/>
            <a:ext cx="4857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5A7EF9-5C83-4B39-BFE5-6105ACDA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6197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85218"/>
                </a:solidFill>
                <a:latin typeface="Segoe UI"/>
                <a:ea typeface="Segoe UI"/>
                <a:cs typeface="Segoe UI"/>
              </a:rPr>
              <a:t>CAMBIO REGISTRADO → IMPLEMENTADO → VALIDADO</a:t>
            </a:r>
          </a:p>
        </p:txBody>
      </p:sp>
    </p:spTree>
    <p:extLst>
      <p:ext uri="{BB962C8B-B14F-4D97-AF65-F5344CB8AC3E}">
        <p14:creationId xmlns:p14="http://schemas.microsoft.com/office/powerpoint/2010/main" val="12325939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77B5CB-8B86-4F04-9FB8-7A1CDCFE50D9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9810750" y="2695575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A30"/>
            </a:solidFill>
            <a:prstDash val="solid"/>
            <a:tailEnd type="triangle" w="sm" len="sm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17C3E5-F1C5-42FC-B930-9038B096E649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858125" y="2695575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A30"/>
            </a:solidFill>
            <a:prstDash val="solid"/>
            <a:tailEnd type="triangle" w="sm" len="sm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FC430B-D2AB-4D37-88C2-BE4E94BF0735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5905500" y="2695575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A30"/>
            </a:solidFill>
            <a:prstDash val="solid"/>
            <a:tailEnd type="triangle" w="sm" len="sm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6C7FC3-6837-4E24-942B-987F69F3EB4B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952875" y="2695575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A30"/>
            </a:solidFill>
            <a:prstDash val="solid"/>
            <a:tailEnd type="triangle" w="sm" len="sm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11ED94-E5CE-463E-9FF9-2BC2E8865933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000250" y="2695575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A30"/>
            </a:solidFill>
            <a:prstDash val="solid"/>
            <a:tailEnd type="triangle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10D284-A64A-4FF1-8BE6-D363743D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428FAD-431B-4262-8E49-685D6291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PORTAL VIAL | DEFENSA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33969C-1126-47A5-9B2C-F81B1C57F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GESTIÓN DEL PROYECTO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857E54-3803-4C65-A33B-4D33275C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66E358-A30A-4E9C-AF0D-0B0A3FF55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913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75C348-4CA1-4701-BA24-3B44195F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La trazabilidad conecta la necesidad con la evidencia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A9D23F-3138-44F6-84A0-297708FDF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Cada decisión puede seguirse desde su origen hasta una comprobación concreta.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C3F790-5625-4733-A2CC-D3746345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24100"/>
            <a:ext cx="156210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F26EC5-8473-4291-9186-339F810E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0300"/>
            <a:ext cx="133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NECESIDAD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F1ECB4-13CC-4438-81EB-FF7CCDE7D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257550"/>
            <a:ext cx="1562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Entrevista o feedback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7C7278-1146-4B2D-BD88-8437ACDB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324100"/>
            <a:ext cx="156210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1EC12B-5AF2-4905-8528-F1C338CA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400300"/>
            <a:ext cx="133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REQUISITO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7222D3-F94F-4B17-807D-A652B22E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257550"/>
            <a:ext cx="1562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RF / RNF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67BA8F-26E2-4F4E-AAF1-A53BE04B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24100"/>
            <a:ext cx="156210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D41846-FBF7-4577-8521-F3B5617B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00300"/>
            <a:ext cx="133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HISTORIA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5DCBA6-D078-4D6C-985A-828CDCF0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57550"/>
            <a:ext cx="1562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US y criterio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64D2FF-D5E1-4C18-80EA-D763DDCE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324100"/>
            <a:ext cx="156210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E85AB2-316A-4075-8AF5-C1BD11F7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00300"/>
            <a:ext cx="133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DESARROLLO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C7DED4-8225-4DFC-BCA5-1A612E58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257550"/>
            <a:ext cx="1562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Pantalla, API y datos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812BDE-B1D5-4A1B-9F02-05D3D43E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24100"/>
            <a:ext cx="156210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5D8428-80FD-452A-8D4D-92E50F01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00300"/>
            <a:ext cx="133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PRUEBA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3B530F-CD5E-4C35-80BB-68609FD7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57550"/>
            <a:ext cx="1562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Escenario esperado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A9E2D2-39CA-4957-91D9-2960F836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324100"/>
            <a:ext cx="156210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E6F5EE"/>
          </a:solidFill>
          <a:ln xmlns:a="http://schemas.openxmlformats.org/drawingml/2006/main" w="14288">
            <a:solidFill>
              <a:srgbClr val="1C8A5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84A686-CDA8-42E1-8B8F-695A969D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400300"/>
            <a:ext cx="133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C8A5A"/>
                </a:solidFill>
                <a:latin typeface="Segoe UI"/>
                <a:ea typeface="Segoe UI"/>
                <a:cs typeface="Segoe UI"/>
              </a:rPr>
              <a:t>EVIDENCIA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456F48-7438-479F-9AB6-41D168C6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3257550"/>
            <a:ext cx="1562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Resultado registrado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60F9A8-F536-4C6A-A7BA-D7B062EE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33900"/>
            <a:ext cx="933450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0E1CA8-7A60-4D21-88F3-79A7C4AF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743450"/>
            <a:ext cx="8686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C85218"/>
                </a:solidFill>
                <a:latin typeface="Segoe UI"/>
                <a:ea typeface="Segoe UI"/>
                <a:cs typeface="Segoe UI"/>
              </a:rPr>
              <a:t>Si la demostración descubre una necesidad nueva, el cambio vuelve al análisis y actualiza requisitos, historias, implementación y pruebas.</a:t>
            </a:r>
          </a:p>
        </p:txBody>
      </p:sp>
    </p:spTree>
    <p:extLst>
      <p:ext uri="{BB962C8B-B14F-4D97-AF65-F5344CB8AC3E}">
        <p14:creationId xmlns:p14="http://schemas.microsoft.com/office/powerpoint/2010/main" val="86901515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220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24539C-81DB-41E8-9230-8039CD56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88FF93-66BE-44F1-82FE-89D327D0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001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CONSTRUCCIÓN TÉCNICA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C6F6CF-2948-4A82-AF4C-5F728E07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7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7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7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7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7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7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7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7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7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7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7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¿Cómo construimos el programa?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E9E49E-3B03-4DB5-B7C2-9F00B3F0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885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DCE5F7"/>
                </a:solidFill>
                <a:latin typeface="Segoe UI"/>
                <a:ea typeface="Segoe UI"/>
                <a:cs typeface="Segoe UI"/>
              </a:rPr>
              <a:t>Tecnologías, capas, datos y reglas elegidas para responder al alcance que acabamos de recorrer.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E874A2-2AA6-429A-8040-2F8D0FBF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43C9A5-B9A1-4077-861B-26ACA77D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FRONTEND  ·  API  ·  REGLAS  ·  DATOS  ·  DESPLIEGUE</a:t>
            </a:r>
          </a:p>
        </p:txBody>
      </p:sp>
    </p:spTree>
    <p:extLst>
      <p:ext uri="{BB962C8B-B14F-4D97-AF65-F5344CB8AC3E}">
        <p14:creationId xmlns:p14="http://schemas.microsoft.com/office/powerpoint/2010/main" val="18204690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70A28E-92DB-40E2-A6F1-E1DA8B2F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8456F5-4DAF-40E5-99F5-C5319C08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PORTAL VIAL | DEFENSA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918069-4C78-44B3-BCC2-35A44AF2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PROGRAMACIÓN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19EBAA-BAB8-4148-AC54-5B27411F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84F2F6-6BC2-473D-9681-7AB2F531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913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9CCF44-273B-4B9D-830F-C7DF1EAF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Una pila explícita y proporcional para ocho módulos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E9C0ED-4319-4F90-8C5C-C0C780BE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El equipo priorizó un recorrido comprensible, pocas dependencias y despliegue repetible.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DB848E-E459-4F4E-8C58-90440376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INTERFACES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D98817-3D47-44A2-BE13-03E7A581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8478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HTML + CSS + JavaScript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263444-AFE5-497E-88A4-A29386DB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828800"/>
            <a:ext cx="542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Dos públicos distintos y ejecución directa en el navegador.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5F1AA0-ED7E-4FEE-B9A1-AF444E9C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5A7FA2-C923-4841-BD9C-4D1DD3B2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COMUNICACIÓN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18B227-E210-4134-8A90-0EF9A222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860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Fetch + JSON / multipart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5763EC-9F67-4393-BE66-C3B50BA2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667000"/>
            <a:ext cx="542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Un cliente HTTP compartido concentra token, errores y archivos.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27C0F0-D605-475F-A793-4B502C45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219E49-9F24-4590-B657-A98A1D7C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BACKEND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8C13B0-5CA3-42BE-8F09-D4D728997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5242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PHP 8.5 nativo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783006-6044-407C-9DED-A506D6E0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505200"/>
            <a:ext cx="542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Rutas y reglas visibles. Sustituyó Laravel para facilitar comprensión y defensa.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AD980D-1587-4D25-8126-1A75E4D2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461391-F863-4F07-A35D-A4F89AE9C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PERSISTENCIA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A48564-076C-45CC-8E12-5E2DF152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3624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PDO + MySQL 8.4 / InnoDB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4B2F84-585E-43D7-9AA3-B2A8E2140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343400"/>
            <a:ext cx="542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Relaciones, restricciones, transacciones y bloqueo de filas.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B34340-754F-4CEB-8E70-B7F82168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78B324-D1D8-4A0C-83DD-8C1D5344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ENTORNO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37E37F-912E-4DDF-86AB-61BA6E7E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2006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Apache + Docker Compose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417AFF-CBB4-4986-97CC-A7EC2EF9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181600"/>
            <a:ext cx="542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Mismo origen para portal y API; dos servicios reconstruibles.</a:t>
            </a:r>
          </a:p>
        </p:txBody>
      </p:sp>
    </p:spTree>
    <p:extLst>
      <p:ext uri="{BB962C8B-B14F-4D97-AF65-F5344CB8AC3E}">
        <p14:creationId xmlns:p14="http://schemas.microsoft.com/office/powerpoint/2010/main" val="181695395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8DE18A-7271-454F-8689-97FDD5F140BB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9944100" y="28670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A30"/>
            </a:solidFill>
            <a:prstDash val="solid"/>
            <a:tailEnd type="triangle" w="sm" len="sm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4A6EB6-B638-42A8-B599-B6685EAAD972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8001000" y="28670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A30"/>
            </a:solidFill>
            <a:prstDash val="solid"/>
            <a:tailEnd type="triangle" w="sm" len="sm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81B50E-D9B3-4460-A9CE-5119D52B6AC2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6057900" y="28670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A30"/>
            </a:solidFill>
            <a:prstDash val="solid"/>
            <a:tailEnd type="triangle" w="sm" len="sm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3482FE-8C83-4AEE-A29C-02058BFCA5D8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114800" y="28670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A30"/>
            </a:solidFill>
            <a:prstDash val="solid"/>
            <a:tailEnd type="triangle" w="sm" len="sm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601C1B-8C21-48F1-91DB-EA47B3BF3991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171700" y="28670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A30"/>
            </a:solidFill>
            <a:prstDash val="solid"/>
            <a:tailEnd type="triangle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D83691-95CC-4C67-96A7-08B04E4C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531816-9433-4B07-A539-B978C094B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PORTAL VIAL | DEFENSA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D7D605-0F22-4143-9B8F-17A81F10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PROGRAMACIÓN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114491-7A02-4023-BEE6-A1739D60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549AE3-1AF9-4008-8D8E-E28DDC69D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913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971368-FE0F-4F63-8F7F-7741555D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Una petición atraviesa responsabilidades claras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17F7D8-D810-48B8-96B2-00677766C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La interfaz no consulta la base directamente y cada capa resuelve una parte del caso de uso.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5F33C3-8E36-4A20-9959-5EA392AA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38400"/>
            <a:ext cx="16192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3C2375-E32A-4E19-83FC-EF80CB91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4600"/>
            <a:ext cx="1390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NAVEGADOR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0135F5-4E5F-4839-8582-A59924B0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Portal o panel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4C5556-AD09-444C-89C4-20F9C3DD3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38400"/>
            <a:ext cx="16192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E2A941-AC96-49D6-A187-EBDDAA08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514600"/>
            <a:ext cx="1390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ROUTER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5DB5DF-A0A1-47D9-9466-87C70190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4290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Método y URL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3AC49B-DFA9-4462-8836-A27C4B0E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38400"/>
            <a:ext cx="16192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8B9BEC-6D85-47F9-945C-5D01CB30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14600"/>
            <a:ext cx="1390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CONTROLLER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6362C0-C4BE-46B7-A247-18BC1C56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290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Entrada y permisos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B2849C-1595-447F-A49A-9703DAB5A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38400"/>
            <a:ext cx="16192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E522B2-992C-4E9D-BFE2-F84830EEF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14600"/>
            <a:ext cx="1390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SERVICE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95C6E9-EF7D-4022-A6FE-7A1E1DFE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290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Reglas de negocio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E18B66-5628-4219-9F3A-456A4EC9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38400"/>
            <a:ext cx="16192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6E08B4-F305-42A3-A640-0B2319ED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14600"/>
            <a:ext cx="1390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REPOSITORY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719F94-D409-4B5E-B0FF-1FE561AAD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290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Consultas PDO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C1EE7D-7ADE-40C3-ADE4-1BCA609C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438400"/>
            <a:ext cx="16192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12204F"/>
          </a:solidFill>
          <a:ln xmlns:a="http://schemas.openxmlformats.org/drawingml/2006/main" w="14288">
            <a:solidFill>
              <a:srgbClr val="12204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FF998E-8C13-4F59-95AD-B58F993F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514600"/>
            <a:ext cx="1390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MYSQL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A1E0C0-DC21-4975-B41C-0D8AFF75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4290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Persistencia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DF3995-74E1-46C5-B047-8757BDF5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62500"/>
            <a:ext cx="1021080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3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46D703-D006-488F-A2DE-8B8F2BA1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53000"/>
            <a:ext cx="960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50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50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50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50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50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50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50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50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50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B1F2E"/>
                </a:solidFill>
                <a:latin typeface="Segoe UI"/>
                <a:ea typeface="Segoe UI"/>
                <a:cs typeface="Segoe UI"/>
              </a:rPr>
              <a:t>Ejemplo: reservar una franja exige autenticación, valida reglas, bloquea el último cupo y persiste todo dentro de una transacción.</a:t>
            </a:r>
          </a:p>
        </p:txBody>
      </p:sp>
    </p:spTree>
    <p:extLst>
      <p:ext uri="{BB962C8B-B14F-4D97-AF65-F5344CB8AC3E}">
        <p14:creationId xmlns:p14="http://schemas.microsoft.com/office/powerpoint/2010/main" val="136712515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9A9E1A-D54B-44B8-8D33-9D907D88B87B}"/>
              </a:ext>
            </a:extLst>
          </p:cNvPr>
          <p:cNvCxnSpPr>
            <a:stCxn xmlns:a="http://schemas.openxmlformats.org/drawingml/2006/main" id="22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9810750" y="3057525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A30"/>
            </a:solidFill>
            <a:prstDash val="solid"/>
            <a:tailEnd type="triangle" w="sm" len="sm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61C619-FF35-441E-9A5D-8B293D01440B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858125" y="3057525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A30"/>
            </a:solidFill>
            <a:prstDash val="solid"/>
            <a:tailEnd type="triangle" w="sm" len="sm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2D7A4B-20BA-44CC-BA0A-E3E2F0148E2F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5905500" y="3057525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A30"/>
            </a:solidFill>
            <a:prstDash val="solid"/>
            <a:tailEnd type="triangle" w="sm" len="sm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38AE27-FF7A-4659-8727-65565C3CA3EF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3952875" y="3057525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A30"/>
            </a:solidFill>
            <a:prstDash val="solid"/>
            <a:tailEnd type="triangle" w="sm" len="sm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CCD40A-2C16-4C64-BF4A-497ED0C36464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000250" y="3057525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A30"/>
            </a:solidFill>
            <a:prstDash val="solid"/>
            <a:tailEnd type="triangle" w="sm" len="sm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3DF1D4-9481-4F91-88B1-EFA3350E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E55E72-1B4A-4DE3-A435-6FC62FB0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PORTAL VIAL | DEFENSA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D8054B-25E8-43F3-8C89-7D49FC0A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PROGRAMACIÓN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20351E-2D34-4C96-9F11-120C3760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0737E2-663A-48CB-9914-B4ADCE858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913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A942CD-D06F-48C8-9B10-0A12A3C3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Un caso de uso recorre archivos concretos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EDDB54-1C47-4AC9-A620-5A742C315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La reserva permite explicar interfaz, ruta, permisos, reglas, SQL, transacción y respuesta.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E2557B-0DFE-46FD-AA48-50B03E4A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000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2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7F3C9D-2D6E-4387-8ADF-1D37617A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POST /api/reservas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D1C8FF-B52B-4463-BAE3-E08DAE7C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667000"/>
            <a:ext cx="15621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017407-4AD0-40F7-ABEA-A0C07ACA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43200"/>
            <a:ext cx="1333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turnos.js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C58EFC-6F77-46D4-A791-2D031632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57600"/>
            <a:ext cx="1562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Envía la franja elegida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21AFA3-9DB9-42DE-B0C4-10C96EA0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667000"/>
            <a:ext cx="15621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82BAB2-8F0C-49BA-994F-83827F29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743200"/>
            <a:ext cx="1333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public/index.php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70AD15-7B3E-408C-AE02-A463E175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657600"/>
            <a:ext cx="1562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Reconoce método y URL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A3A76B-5FE8-4F76-B90D-009CDEE4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67000"/>
            <a:ext cx="15621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B02C6A-4D30-4C34-9BF8-9B30AD3DB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43200"/>
            <a:ext cx="1333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ReservaController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056543-2720-42A1-BFCA-0703C016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57600"/>
            <a:ext cx="1562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Exige usuario y valida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0483AF-93D5-49C5-9DB8-8927B6661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667000"/>
            <a:ext cx="15621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14288">
            <a:solidFill>
              <a:srgbClr val="FF7A3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C458AC-B81D-4DBC-87D5-F4D2A4DF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743200"/>
            <a:ext cx="1333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C85218"/>
                </a:solidFill>
                <a:latin typeface="Segoe UI"/>
                <a:ea typeface="Segoe UI"/>
                <a:cs typeface="Segoe UI"/>
              </a:rPr>
              <a:t>ReservaService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F5C4B8-8628-4310-A592-F5C6344D2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657600"/>
            <a:ext cx="1562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Aplica las reglas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A70EDD-E476-4529-B150-F140DFC1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67000"/>
            <a:ext cx="15621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2C981A-77E7-4EB1-871B-7406543A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43200"/>
            <a:ext cx="1333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Reserva</a:t>
            </a:r>
          </a:p>
          <a:p xmlns:a="http://schemas.openxmlformats.org/drawingml/2006/main">
            <a: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Repository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B7909D-1FCD-40F6-B13C-1464444F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57600"/>
            <a:ext cx="1562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Bloquea y persiste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462294-7545-47F9-A31F-3C3FEB63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667000"/>
            <a:ext cx="15621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E6F5EE"/>
          </a:solidFill>
          <a:ln xmlns:a="http://schemas.openxmlformats.org/drawingml/2006/main" w="14288">
            <a:solidFill>
              <a:srgbClr val="1C8A5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8FD977-2DC3-4B0B-AEEA-771627E2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743200"/>
            <a:ext cx="1333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C8A5A"/>
                </a:solidFill>
                <a:latin typeface="Segoe UI"/>
                <a:ea typeface="Segoe UI"/>
                <a:cs typeface="Segoe UI"/>
              </a:rPr>
              <a:t>Response JSON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902E21-8104-49E9-BADD-00144281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3657600"/>
            <a:ext cx="1562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Devuelve HTTP 201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B64B9B-B8E0-43AC-BF26-09110A13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953000"/>
            <a:ext cx="88773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3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E8EDB0C-66FF-4686-A0D2-4407F065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24450"/>
            <a:ext cx="834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425" b="1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425" b="1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425" b="1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425" b="1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425" b="1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425" b="1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425" b="1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425" b="1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425" b="1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B1F2E"/>
                </a:solidFill>
                <a:latin typeface="Segoe UI"/>
                <a:ea typeface="Segoe UI"/>
                <a:cs typeface="Segoe UI"/>
              </a:rPr>
              <a:t>Dentro de la transacción se comprueba la franja, la fecha, la duplicación y el cupo. Ante un fallo se ejecuta rollback.</a:t>
            </a:r>
          </a:p>
        </p:txBody>
      </p:sp>
    </p:spTree>
    <p:extLst>
      <p:ext uri="{BB962C8B-B14F-4D97-AF65-F5344CB8AC3E}">
        <p14:creationId xmlns:p14="http://schemas.microsoft.com/office/powerpoint/2010/main" val="211417818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D9D2CE-E713-49E7-BD08-197142184773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762500" y="28194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A30"/>
            </a:solidFill>
            <a:prstDash val="solid"/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64DA72-BED2-49EF-BE83-9834D1E203CC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476500" y="28194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A30"/>
            </a:solidFill>
            <a:prstDash val="solid"/>
            <a:tail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FBC49A-E6D5-430C-A85A-C7BD15CF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9FD6CD-AAE5-48AB-A414-FA34D6AA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PORTAL VIAL | DEFENSA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597F33-5161-46AC-9587-6A9C1681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BASE DE DATOS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90E9AE-2BD8-4CDE-B00C-71F93D3B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8E05CE-CA4E-478B-8F12-381B922EA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913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FAAC79-0CF2-4EC9-A4A0-B6EB1F13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El modelo de datos sostiene reglas del dominio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54E1F6-6DF2-4053-9793-97284194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Las relaciones y restricciones complementan las validaciones de la aplicación.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0B60BA-9A53-40D1-828A-13C0DEAF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RESERVAS Y CAPACIDAD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179E65-3A21-44F9-B6C2-CA069481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18097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A42FF1-3920-4AD4-8C2D-64EC2943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1581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USUARIOS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0DADDF-2DA9-41E7-966E-64F59F50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76500"/>
            <a:ext cx="18097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14288">
            <a:solidFill>
              <a:srgbClr val="FF7A3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B57F22-971F-4889-98D1-1D9AC57F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52700"/>
            <a:ext cx="1581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C85218"/>
                </a:solidFill>
                <a:latin typeface="Segoe UI"/>
                <a:ea typeface="Segoe UI"/>
                <a:cs typeface="Segoe UI"/>
              </a:rPr>
              <a:t>RESERVAS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A45B62-CF9A-4725-ADD5-FFA1D221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76500"/>
            <a:ext cx="18097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C136F7-3D24-46E2-8290-45075CF4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552700"/>
            <a:ext cx="1581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FRANJAS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E33736-BCE7-4AF2-A123-87894EB7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352800"/>
            <a:ext cx="3371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FK + índice único usuario/franja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DF4477-7279-49D9-BEE3-87B6DCBD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90700"/>
            <a:ext cx="190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8AABB0-1628-4344-B1B5-3F8C89BA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47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1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1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1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1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1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1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1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1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1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CONTENIDOS Y TRAZABILIDAD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618D2C-8CF5-452D-9D81-BF8ADC188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34290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37BF62-9326-437F-8D72-C731C03F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57450"/>
            <a:ext cx="320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NOTICIAS · MATERIALES · FAQ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C7BBA9-7340-4032-BD92-F0F9C882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33750"/>
            <a:ext cx="34290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6AB5D8-6C62-47FB-B3F6-2E595508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09950"/>
            <a:ext cx="320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ESTADO Y VIGENCIA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CB451D-50B4-44AC-ACF3-364FB2995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229100"/>
            <a:ext cx="34290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E6F5EE"/>
          </a:solidFill>
          <a:ln xmlns:a="http://schemas.openxmlformats.org/drawingml/2006/main" w="14288">
            <a:solidFill>
              <a:srgbClr val="1C8A5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CFC900-EAD4-42C4-AFAC-345F3614F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05300"/>
            <a:ext cx="320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C8A5A"/>
                </a:solidFill>
                <a:latin typeface="Segoe UI"/>
                <a:ea typeface="Segoe UI"/>
                <a:cs typeface="Segoe UI"/>
              </a:rPr>
              <a:t>HISTORIAL DE ACCIONES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B22F1F-A164-424C-AC81-1FA44FE9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61722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1B4A06-7BA8-4A9F-AFB0-EDC01019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43450"/>
            <a:ext cx="5562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B1F2E"/>
                </a:solidFill>
                <a:latin typeface="Segoe UI"/>
                <a:ea typeface="Segoe UI"/>
                <a:cs typeface="Segoe UI"/>
              </a:rPr>
              <a:t>MySQL InnoDB aporta claves foráneas, transacciones y bloqueo de filas. PDO mantiene el SQL visible y usa valores parametrizados.</a:t>
            </a:r>
          </a:p>
        </p:txBody>
      </p:sp>
    </p:spTree>
    <p:extLst>
      <p:ext uri="{BB962C8B-B14F-4D97-AF65-F5344CB8AC3E}">
        <p14:creationId xmlns:p14="http://schemas.microsoft.com/office/powerpoint/2010/main" val="79844812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526465-6DC2-447E-B03A-3AB2B292FDFD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610600" y="2914650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7A30"/>
            </a:solidFill>
            <a:prstDash val="solid"/>
            <a:tailEnd type="triangle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593DC6-CB5E-4742-BAE2-81B7C49E54CD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753100" y="2914650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7A30"/>
            </a:solidFill>
            <a:prstDash val="solid"/>
            <a:tailEnd type="triangle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7D8C56-58E4-4532-BBE3-221FF8754313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895600" y="2914650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7A30"/>
            </a:solidFill>
            <a:prstDash val="soli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C06977-2E09-4011-8DF2-80171A64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E77F34-3821-41DA-8508-533E225B3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PORTAL VIAL | DEFENSA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103289-1113-4AC6-B675-08E4711B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REGLAS DE NEGOCIO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C7407E-35DE-4614-AAC3-C2A41927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4DB777-96B3-49E0-963D-ECF218E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913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DA6357-F224-4877-839C-C8D281D4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Publicar requiere una secuencia controlada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0FA901-7645-4C22-B381-E3485806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Los estados implementan la aprobación solicitada durante la demostración.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1F8558-C629-4720-AC7C-CC77DEFE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21145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3F5FB"/>
          </a:solidFill>
          <a:ln xmlns:a="http://schemas.openxmlformats.org/drawingml/2006/main" w="14288">
            <a:solidFill>
              <a:srgbClr val="5A607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6E9229-967D-4CDD-80EA-34EB8F1D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1885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BORRADOR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7D67EF-8F78-4579-85BE-CA3ECD61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Personal crea o edita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B3C70C-CBD6-406F-AA70-3724202D8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76500"/>
            <a:ext cx="21145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14288">
            <a:solidFill>
              <a:srgbClr val="B9790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DC50DC-33AE-4FD2-93DB-F31142B5E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52700"/>
            <a:ext cx="1885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B9790A"/>
                </a:solidFill>
                <a:latin typeface="Segoe UI"/>
                <a:ea typeface="Segoe UI"/>
                <a:cs typeface="Segoe UI"/>
              </a:rPr>
              <a:t>PENDIENTE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71035D-D649-4EB3-8E56-5FEEFFE0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Personal envía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A4961A-4F21-491A-8827-E472254C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76500"/>
            <a:ext cx="21145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9FF9E5-0692-4957-BDCA-9AF72960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52700"/>
            <a:ext cx="1885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APROBADO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142468-2297-4020-81B3-51255D62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00450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Directora aprueba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F2C4FA-5DF9-456D-9B2F-8BC25DEC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76500"/>
            <a:ext cx="21145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E6F5EE"/>
          </a:solidFill>
          <a:ln xmlns:a="http://schemas.openxmlformats.org/drawingml/2006/main" w="14288">
            <a:solidFill>
              <a:srgbClr val="1C8A5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2F141F-24FB-494A-AE05-C167DF5F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552700"/>
            <a:ext cx="1885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C8A5A"/>
                </a:solidFill>
                <a:latin typeface="Segoe UI"/>
                <a:ea typeface="Segoe UI"/>
                <a:cs typeface="Segoe UI"/>
              </a:rPr>
              <a:t>PUBLICADO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00C472-7F1B-4598-B6D9-B112BC6A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00450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Personal publica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556DC5-8E52-485D-9C9F-5B964D0B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762500"/>
            <a:ext cx="68961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47FFD1-4039-4CDF-8AFE-C4AFBA50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953000"/>
            <a:ext cx="632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238"/>
          </a:bodyPr>
          <a:lstStyle xmlns:a="http://schemas.openxmlformats.org/drawingml/2006/main">
            <a:defPPr algn="ctr">
              <a:defRPr sz="15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5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5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5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5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5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5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5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5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5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C85218"/>
                </a:solidFill>
                <a:latin typeface="Segoe UI"/>
                <a:ea typeface="Segoe UI"/>
                <a:cs typeface="Segoe UI"/>
              </a:rPr>
              <a:t>Si alguien edita el contenido, vuelve a borrador y necesita una aprobación nueva.</a:t>
            </a:r>
          </a:p>
        </p:txBody>
      </p:sp>
    </p:spTree>
    <p:extLst>
      <p:ext uri="{BB962C8B-B14F-4D97-AF65-F5344CB8AC3E}">
        <p14:creationId xmlns:p14="http://schemas.microsoft.com/office/powerpoint/2010/main" val="92178529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FC634F-5374-4C6C-8A66-2CA0E62D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EE8B89-1EC7-4AB2-B594-2DA1FEACA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PORTAL VIAL | DEFENSA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4FC074-6A6A-4712-B89B-186E9528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INFRAESTRUCTURA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42CE72-F368-4813-BDB7-054444AE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374AC0-3150-4BCC-ACC9-4A8C2AA1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913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9ADEAA-3BD3-42C4-B208-4C380D5C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Un entorno reconstruible y separable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89D551-2A63-4C60-92E1-D62F9435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Docker Compose describe aplicación, base, persistencia y controles de salud.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AB41AF-DD4A-40FE-A89A-1BCF2FBFA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10934700" cy="3886200"/>
          </a:xfrm>
          <a:prstGeom xmlns:a="http://schemas.openxmlformats.org/drawingml/2006/main" prst="roundRect">
            <a:avLst>
              <a:gd name="adj" fmla="val 4902"/>
            </a:avLst>
          </a:prstGeom>
          <a:solidFill xmlns:a="http://schemas.openxmlformats.org/drawingml/2006/main">
            <a:srgbClr val="F3F5FB"/>
          </a:solidFill>
          <a:ln xmlns:a="http://schemas.openxmlformats.org/drawingml/2006/main" w="14288">
            <a:solidFill>
              <a:srgbClr val="DDE3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9208E0-AD0A-497D-8932-A023EC72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381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2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7EBD5A-93C9-4964-B01D-5023ECEB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UBUNTU SERVER 26.04 LTS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5EE48E-098B-48EA-9363-965C0BFA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57500"/>
            <a:ext cx="352425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76975E-9FC6-4C79-A63A-0998BDB6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933700"/>
            <a:ext cx="32956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APP</a:t>
            </a:r>
          </a:p>
          <a:p xmlns:a="http://schemas.openxmlformats.org/drawingml/2006/main">
            <a: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Apache + PHP + API + frontends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CCC786-0D16-4BED-9051-3E4B3F42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57500"/>
            <a:ext cx="352425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5D5F1F-D746-4A42-B071-4F3DB678C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933700"/>
            <a:ext cx="32956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DB</a:t>
            </a:r>
          </a:p>
          <a:p xmlns:a="http://schemas.openxmlformats.org/drawingml/2006/main">
            <a: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MySQL 8.4</a:t>
            </a:r>
          </a:p>
        </p:txBody>
      </p: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0C196E-F6AC-4FCF-AA6B-784F60441F5F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914900" y="3467100"/>
            <a:ext cx="2190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7A30"/>
            </a:solidFill>
            <a:prstDash val="solid"/>
            <a:headEnd type="triangle" w="sm" len="sm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B7C14F-68AA-49D7-833E-48B7F538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5270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red interna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E1BA44-A518-4F01-AB36-DCFF0521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10100"/>
            <a:ext cx="14287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14288">
            <a:solidFill>
              <a:srgbClr val="DDE3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1EAF17-A0F6-4988-B617-A2AFFA0C4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6863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Adjuntos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F924E0-2E97-43EE-A489-52352D0E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610100"/>
            <a:ext cx="14287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14288">
            <a:solidFill>
              <a:srgbClr val="DDE3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7979CF-E84F-4D3E-9747-2F44DAEA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6863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Caché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6FC1E9-DE7E-40D8-8E3C-E8E77058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610100"/>
            <a:ext cx="20955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14288">
            <a:solidFill>
              <a:srgbClr val="DDE3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828C78-4EFD-4D75-A6C6-5B503499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86300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Datos MySQL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C440C2-1648-44B5-9292-BEFC95C9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14950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VOLÚMENES PERSISTENTES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EAC676-927F-4719-B6A7-7BE5891F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76450"/>
            <a:ext cx="3143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76EE7E-5B04-4DF4-BDB0-C6FAEF74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764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85218"/>
                </a:solidFill>
                <a:latin typeface="Segoe UI"/>
                <a:ea typeface="Segoe UI"/>
                <a:cs typeface="Segoe UI"/>
              </a:rPr>
              <a:t>2 vCPU · 4 GB RAM · 30 GB SSD/NVMe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F9AE62-1F15-427B-BC9F-7D3654804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848350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11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11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11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11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11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11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11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11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11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Punto inicial. La capacidad de 90 sesiones todavía requiere una prueba de carga.</a:t>
            </a:r>
          </a:p>
        </p:txBody>
      </p:sp>
    </p:spTree>
    <p:extLst>
      <p:ext uri="{BB962C8B-B14F-4D97-AF65-F5344CB8AC3E}">
        <p14:creationId xmlns:p14="http://schemas.microsoft.com/office/powerpoint/2010/main" val="80337802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1AAED7-2D88-4534-8D30-D45B467E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EAAC2B-A677-4412-9BE6-927F5307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PORTAL VIAL | DEFENSA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EE5F31-1115-4CC2-88D4-CC190203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CIBERSEGURIDAD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5E116D-CBCC-4024-9158-8ADBAFC7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A9FA16-AA69-4D2A-8E1E-D05DEF9F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913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9E748D-75D2-40D2-B596-1E84C979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Controles y pruebas de seguridad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36C03C-D36C-46FD-93E8-87A2D0A6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Primero se redujo la superficie de riesgo. Después se buscaron fallos desde distintas perspectivas.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552896-4AE5-4D4F-A5E8-AD92DA94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DENTRO DEL SISTEMA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AD752F-DE0B-4D5E-AA3A-AD69A24B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143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58F105-8CD7-4319-A2A6-7739CCB1E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5745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Hash de contraseñas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85E4A9-D4D2-4965-AD0E-02E0821A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1143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52E6B7-D0D2-4626-B2F4-A48D2903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8135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Permisos en backend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E46295-EF51-4803-9059-FE75268A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1143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66EB21-57FE-44DD-B3D5-B72EB402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PDO con parámetros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81679B-39A7-42E8-B68D-9B486F7D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1143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D17B5C-CCB9-4B00-9C53-6C109B58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2915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Validación y transacciones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A403E9-9454-4815-9A81-BF724C68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019300"/>
            <a:ext cx="1905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73D643-6F8C-4BC4-964A-F8E0C41F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383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CONTRA EL SISTEMA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DFFBC2-4389-43AE-A94B-03760F42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76500"/>
            <a:ext cx="1028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53AD9A-D3A6-4485-AAF5-CD37F38A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7650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SAST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5175E1-5BEA-4F60-A188-B746C59A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384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Análisis del código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5CC982-A6D6-4B89-84E1-250135EB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19450"/>
            <a:ext cx="1028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FD72CF-8573-4ACF-897D-44706FEFE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1945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85218"/>
                </a:solidFill>
                <a:latin typeface="Segoe UI"/>
                <a:ea typeface="Segoe UI"/>
                <a:cs typeface="Segoe UI"/>
              </a:rPr>
              <a:t>DAST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F438B7-FC27-4532-842A-514A4AB4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813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OWASP ZAP en ejecución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8EB6B6-1757-4CA7-8AFE-5476BF59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62400"/>
            <a:ext cx="1028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8E505C-BE83-4CDB-A2FF-120E2E84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6240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NMAP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92BF47-8F82-4D25-AF70-E914D83A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9243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Puertos expuestos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BC6B0A-8481-4BC7-B4BF-0EABB6B8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05350"/>
            <a:ext cx="1028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6291F5-5B99-42D6-9D1C-E87CC8C3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0535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85218"/>
                </a:solidFill>
                <a:latin typeface="Segoe UI"/>
                <a:ea typeface="Segoe UI"/>
                <a:cs typeface="Segoe UI"/>
              </a:rPr>
              <a:t>API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5F13E9-21E5-4879-961B-6EA92CDD1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6672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Auditoría Bash por perfiles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C8980E-255B-4284-A2B6-0DA2F75B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562600"/>
            <a:ext cx="459105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E6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E1E82A-90FF-4F23-9111-51FBA47C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638800"/>
            <a:ext cx="421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597"/>
          </a:bodyPr>
          <a:lstStyle xmlns:a="http://schemas.openxmlformats.org/drawingml/2006/main">
            <a:def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C8A5A"/>
                </a:solidFill>
                <a:latin typeface="Segoe UI"/>
                <a:ea typeface="Segoe UI"/>
                <a:cs typeface="Segoe UI"/>
              </a:rPr>
              <a:t>Los hallazgos se registran, corrigen y vuelven a probar.</a:t>
            </a:r>
          </a:p>
        </p:txBody>
      </p:sp>
    </p:spTree>
    <p:extLst>
      <p:ext uri="{BB962C8B-B14F-4D97-AF65-F5344CB8AC3E}">
        <p14:creationId xmlns:p14="http://schemas.microsoft.com/office/powerpoint/2010/main" val="131808811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220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27DD65-1D03-4A73-9B1F-91677D27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EVIDENCIA DE LA VERSIÓN VERIFICADA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2B2997-0EA6-4690-9392-178CAC00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Resultados que se pueden defender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4C0D95-463F-4ACE-BEEF-160EA5562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143500" cy="1466850"/>
          </a:xfrm>
          <a:prstGeom xmlns:a="http://schemas.openxmlformats.org/drawingml/2006/main" prst="roundRect">
            <a:avLst>
              <a:gd name="adj" fmla="val 12987"/>
            </a:avLst>
          </a:prstGeom>
          <a:solidFill xmlns:a="http://schemas.openxmlformats.org/drawingml/2006/main">
            <a:srgbClr val="1B2D67"/>
          </a:solidFill>
          <a:ln xmlns:a="http://schemas.openxmlformats.org/drawingml/2006/main" w="14288">
            <a:solidFill>
              <a:srgbClr val="31498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F0845F-29C8-4004-B51A-54AD84A51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420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192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2C853E-A5CB-4089-B965-935A7F60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71700"/>
            <a:ext cx="257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comprobaciones de integración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0FF325-E693-4863-A83D-7A5400091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24050"/>
            <a:ext cx="5143500" cy="1466850"/>
          </a:xfrm>
          <a:prstGeom xmlns:a="http://schemas.openxmlformats.org/drawingml/2006/main" prst="roundRect">
            <a:avLst>
              <a:gd name="adj" fmla="val 12987"/>
            </a:avLst>
          </a:prstGeom>
          <a:solidFill xmlns:a="http://schemas.openxmlformats.org/drawingml/2006/main">
            <a:srgbClr val="1B2D67"/>
          </a:solidFill>
          <a:ln xmlns:a="http://schemas.openxmlformats.org/drawingml/2006/main" w="14288">
            <a:solidFill>
              <a:srgbClr val="31498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01E55A-AA80-4ED4-8E28-7E9B7BB9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1455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420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46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4DEFF1-EA64-4769-B34A-30E44013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71700"/>
            <a:ext cx="257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endpoints cubiertos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E3DF84-1A0C-46BD-A5C7-3039DEBBC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5143500" cy="1466850"/>
          </a:xfrm>
          <a:prstGeom xmlns:a="http://schemas.openxmlformats.org/drawingml/2006/main" prst="roundRect">
            <a:avLst>
              <a:gd name="adj" fmla="val 12987"/>
            </a:avLst>
          </a:prstGeom>
          <a:solidFill xmlns:a="http://schemas.openxmlformats.org/drawingml/2006/main">
            <a:srgbClr val="1B2D67"/>
          </a:solidFill>
          <a:ln xmlns:a="http://schemas.openxmlformats.org/drawingml/2006/main" w="14288">
            <a:solidFill>
              <a:srgbClr val="31498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64FB0A-B9C6-4A0A-9E47-9BCD8261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2430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00" b="1">
                <a:solidFill>
                  <a:srgbClr val="6ED0A6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4200" b="1">
                <a:solidFill>
                  <a:srgbClr val="6ED0A6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4200" b="1">
                <a:solidFill>
                  <a:srgbClr val="6ED0A6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4200" b="1">
                <a:solidFill>
                  <a:srgbClr val="6ED0A6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4200" b="1">
                <a:solidFill>
                  <a:srgbClr val="6ED0A6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4200" b="1">
                <a:solidFill>
                  <a:srgbClr val="6ED0A6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4200" b="1">
                <a:solidFill>
                  <a:srgbClr val="6ED0A6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4200" b="1">
                <a:solidFill>
                  <a:srgbClr val="6ED0A6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4200" b="1">
                <a:solidFill>
                  <a:srgbClr val="6ED0A6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4200" b="1">
                <a:solidFill>
                  <a:srgbClr val="6ED0A6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6ED0A6"/>
                </a:solidFill>
                <a:latin typeface="Segoe UI"/>
                <a:ea typeface="Segoe UI"/>
                <a:cs typeface="Segoe UI"/>
              </a:defRPr>
            </a:pPr>
            <a:r>
              <a:rPr sz="4200" b="1">
                <a:solidFill>
                  <a:srgbClr val="6ED0A6"/>
                </a:solidFill>
                <a:latin typeface="Segoe UI"/>
                <a:ea typeface="Segoe UI"/>
                <a:cs typeface="Segoe UI"/>
              </a:rPr>
              <a:t>43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BDAF51-734D-4957-815E-5A7C4E12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981450"/>
            <a:ext cx="257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pruebas de seguridad aprobadas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6CC12D-E16D-490B-AA09-2274EA3A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33800"/>
            <a:ext cx="5143500" cy="1466850"/>
          </a:xfrm>
          <a:prstGeom xmlns:a="http://schemas.openxmlformats.org/drawingml/2006/main" prst="roundRect">
            <a:avLst>
              <a:gd name="adj" fmla="val 12987"/>
            </a:avLst>
          </a:prstGeom>
          <a:solidFill xmlns:a="http://schemas.openxmlformats.org/drawingml/2006/main">
            <a:srgbClr val="22346E"/>
          </a:solidFill>
          <a:ln xmlns:a="http://schemas.openxmlformats.org/drawingml/2006/main" w="14288">
            <a:solidFill>
              <a:srgbClr val="31498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8D6319-C4D9-477E-9C24-CE6293BF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2430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1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1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1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1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1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1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1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1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1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201 / 422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0557E9-DA7E-4489-873A-963EAE6E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981450"/>
            <a:ext cx="257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dos solicitudes, un último cupo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BE8482-8B94-4E4C-9B96-EFF8897E7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10250"/>
            <a:ext cx="10553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0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0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0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0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0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0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0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0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0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C7D5F0"/>
                </a:solidFill>
                <a:latin typeface="Segoe UI"/>
                <a:ea typeface="Segoe UI"/>
                <a:cs typeface="Segoe UI"/>
              </a:rPr>
              <a:t>La prueba concurrente no sustituye una prueba de carga. El objetivo de 90 sesiones continúa pendiente de medición.</a:t>
            </a:r>
          </a:p>
        </p:txBody>
      </p:sp>
    </p:spTree>
    <p:extLst>
      <p:ext uri="{BB962C8B-B14F-4D97-AF65-F5344CB8AC3E}">
        <p14:creationId xmlns:p14="http://schemas.microsoft.com/office/powerpoint/2010/main" val="160167897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220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CE8647-5D7A-474E-80D2-4AAB2CE1ECB5}"/>
              </a:ext>
            </a:extLst>
          </p:cNvPr>
          <p:cNvCxnSpPr>
            <a:stCxn xmlns:a="http://schemas.openxmlformats.org/drawingml/2006/main" id="9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7505700" y="38100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8FA9D7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496FF2-0097-48AA-95FE-7E50A9D06A9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829050" y="38100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8FA9D7"/>
            </a:solidFill>
            <a:prstDash val="solid"/>
            <a:headEnd type="triangle" w="sm" len="sm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09C81A-5C92-4A04-AFD3-347E0DFD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CC0959-132F-412A-B832-DF4AF53EB3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efdae787f746b4"/>
          <a:stretch xmlns:a="http://schemas.openxmlformats.org/drawingml/2006/main"/>
        </p:blipFill>
        <p:spPr>
          <a:xfrm xmlns:a="http://schemas.openxmlformats.org/drawingml/2006/main">
            <a:off x="781050" y="581315"/>
            <a:ext cx="590550" cy="53282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0D1309-DEC1-4F14-800B-40F631A6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477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PORTAL VIAL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3088B5-9E97-4DA3-864A-1BB151FD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La historia vuelve al punto de partida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4F5A36-6F07-47E6-BDB4-F9535C11B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76600"/>
            <a:ext cx="2762250" cy="1066800"/>
          </a:xfrm>
          <a:prstGeom xmlns:a="http://schemas.openxmlformats.org/drawingml/2006/main" prst="roundRect">
            <a:avLst>
              <a:gd name="adj" fmla="val 196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984150-0B9D-479B-B427-EF64EB7B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52800"/>
            <a:ext cx="25336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CIUDADANÍA</a:t>
            </a:r>
          </a:p>
          <a:p xmlns:a="http://schemas.openxmlformats.org/drawingml/2006/main">
            <a: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Información clara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F737B8-AB0F-42A0-AC75-C7B00617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28950"/>
            <a:ext cx="2819400" cy="156210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7A30"/>
          </a:solidFill>
          <a:ln xmlns:a="http://schemas.openxmlformats.org/drawingml/2006/main" w="14288">
            <a:solidFill>
              <a:srgbClr val="FF7A3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6B8A7F-B6B1-4C78-A813-D853158D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105150"/>
            <a:ext cx="25908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PORTAL VIAL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43A360-E671-4B29-93A0-1681BD455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76600"/>
            <a:ext cx="2762250" cy="1066800"/>
          </a:xfrm>
          <a:prstGeom xmlns:a="http://schemas.openxmlformats.org/drawingml/2006/main" prst="roundRect">
            <a:avLst>
              <a:gd name="adj" fmla="val 196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13A082-4C5C-4A51-B9AA-A862BE64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52800"/>
            <a:ext cx="25336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DIRECCIÓN</a:t>
            </a:r>
          </a:p>
          <a:p xmlns:a="http://schemas.openxmlformats.org/drawingml/2006/main">
            <a: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Gestión controlada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86085A-B622-4DD5-A510-3BF84020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29250"/>
            <a:ext cx="8686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DCE5F7"/>
                </a:solidFill>
                <a:latin typeface="Segoe UI"/>
                <a:ea typeface="Segoe UI"/>
                <a:cs typeface="Segoe UI"/>
              </a:rPr>
              <a:t>Una solución construida mediante relevamiento, decisiones, validación y evidencia.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71122A-8C45-4202-92CB-1CD6ED820B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725e4a3e444f23"/>
          <a:stretch xmlns:a="http://schemas.openxmlformats.org/drawingml/2006/main"/>
        </p:blipFill>
        <p:spPr>
          <a:xfrm xmlns:a="http://schemas.openxmlformats.org/drawingml/2006/main">
            <a:off x="10734675" y="6096000"/>
            <a:ext cx="438150" cy="438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3028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2026-10-27T14:57:08.9940000Z</dcterms:created>
  <dcterms:modified xsi:type="dcterms:W3CDTF">2026-10-27T14:57:08.9940000Z</dcterms:modified>
</coreProperties>
</file>