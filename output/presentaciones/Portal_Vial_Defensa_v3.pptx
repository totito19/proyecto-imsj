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00ba76854046b9" /><Relationship Type="http://schemas.openxmlformats.org/officeDocument/2006/relationships/extended-properties" Target="/docProps/app.xml" Id="R286e88b31334490b" /><Relationship Type="http://schemas.openxmlformats.org/officeDocument/2006/relationships/officeDocument" Target="/ppt/presentation.xml" Id="R89c8d5e545a2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2e6923fbbd4289"/>
  </p:sldMasterIdLst>
  <p:notesMasterIdLst>
    <p:notesMasterId xmlns:r="http://schemas.openxmlformats.org/officeDocument/2006/relationships" r:id="R402eb3e74751450c"/>
  </p:notesMasterIdLst>
  <p:sldIdLst>
    <p:sldId xmlns:r="http://schemas.openxmlformats.org/officeDocument/2006/relationships" id="256" r:id="R27af3b46da7f449e"/>
    <p:sldId xmlns:r="http://schemas.openxmlformats.org/officeDocument/2006/relationships" id="257" r:id="R69379dd4fec54964"/>
    <p:sldId xmlns:r="http://schemas.openxmlformats.org/officeDocument/2006/relationships" id="258" r:id="Rdf461d39d50e4625"/>
    <p:sldId xmlns:r="http://schemas.openxmlformats.org/officeDocument/2006/relationships" id="259" r:id="R932886bf5c504120"/>
    <p:sldId xmlns:r="http://schemas.openxmlformats.org/officeDocument/2006/relationships" id="260" r:id="Reaadaf4d524b449c"/>
    <p:sldId xmlns:r="http://schemas.openxmlformats.org/officeDocument/2006/relationships" id="261" r:id="R8025c0de7a924d05"/>
    <p:sldId xmlns:r="http://schemas.openxmlformats.org/officeDocument/2006/relationships" id="262" r:id="R74f25b66ae8542df"/>
    <p:sldId xmlns:r="http://schemas.openxmlformats.org/officeDocument/2006/relationships" id="263" r:id="R6311a742c6ec4ab1"/>
    <p:sldId xmlns:r="http://schemas.openxmlformats.org/officeDocument/2006/relationships" id="264" r:id="Rc2866fdd76d843d6"/>
    <p:sldId xmlns:r="http://schemas.openxmlformats.org/officeDocument/2006/relationships" id="265" r:id="R3833dd6db70b4f94"/>
    <p:sldId xmlns:r="http://schemas.openxmlformats.org/officeDocument/2006/relationships" id="266" r:id="R57c00d288ee14811"/>
    <p:sldId xmlns:r="http://schemas.openxmlformats.org/officeDocument/2006/relationships" id="267" r:id="R31f760f317224c0a"/>
    <p:sldId xmlns:r="http://schemas.openxmlformats.org/officeDocument/2006/relationships" id="268" r:id="R0c4da4b503874f8b"/>
    <p:sldId xmlns:r="http://schemas.openxmlformats.org/officeDocument/2006/relationships" id="269" r:id="R5b03b22dd7534363"/>
    <p:sldId xmlns:r="http://schemas.openxmlformats.org/officeDocument/2006/relationships" id="270" r:id="R961c03bd5a854130"/>
    <p:sldId xmlns:r="http://schemas.openxmlformats.org/officeDocument/2006/relationships" id="271" r:id="R3e8bdd6a2e3f43be"/>
    <p:sldId xmlns:r="http://schemas.openxmlformats.org/officeDocument/2006/relationships" id="272" r:id="R6c9be4930fcb43c1"/>
    <p:sldId xmlns:r="http://schemas.openxmlformats.org/officeDocument/2006/relationships" id="273" r:id="Rc31d99e0fbc04f7a"/>
    <p:sldId xmlns:r="http://schemas.openxmlformats.org/officeDocument/2006/relationships" id="274" r:id="R0d40d9221cba49ed"/>
    <p:sldId xmlns:r="http://schemas.openxmlformats.org/officeDocument/2006/relationships" id="275" r:id="R9e69bb124b99406e"/>
    <p:sldId xmlns:r="http://schemas.openxmlformats.org/officeDocument/2006/relationships" id="276" r:id="R42eebd4befe643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e2b523f604131" /><Relationship Type="http://schemas.openxmlformats.org/officeDocument/2006/relationships/slideMaster" Target="/ppt/slideMasters/slideMaster1.xml" Id="Re82e6923fbbd4289" /><Relationship Type="http://schemas.openxmlformats.org/officeDocument/2006/relationships/notesMaster" Target="/ppt/notesMasters/notesMaster1.xml" Id="R402eb3e74751450c" /><Relationship Type="http://schemas.openxmlformats.org/officeDocument/2006/relationships/presProps" Target="/ppt/presProps.xml" Id="Rdca1fc5a00634471" /><Relationship Type="http://schemas.openxmlformats.org/officeDocument/2006/relationships/tableStyles" Target="/ppt/tableStyles.xml" Id="Rdac67654b23e41e8" /><Relationship Type="http://schemas.openxmlformats.org/officeDocument/2006/relationships/slide" Target="/ppt/slides/slide1.xml" Id="R27af3b46da7f449e" /><Relationship Type="http://schemas.openxmlformats.org/officeDocument/2006/relationships/slide" Target="/ppt/slides/slide2.xml" Id="R69379dd4fec54964" /><Relationship Type="http://schemas.openxmlformats.org/officeDocument/2006/relationships/slide" Target="/ppt/slides/slide3.xml" Id="Rdf461d39d50e4625" /><Relationship Type="http://schemas.openxmlformats.org/officeDocument/2006/relationships/slide" Target="/ppt/slides/slide4.xml" Id="R932886bf5c504120" /><Relationship Type="http://schemas.openxmlformats.org/officeDocument/2006/relationships/slide" Target="/ppt/slides/slide5.xml" Id="Reaadaf4d524b449c" /><Relationship Type="http://schemas.openxmlformats.org/officeDocument/2006/relationships/slide" Target="/ppt/slides/slide6.xml" Id="R8025c0de7a924d05" /><Relationship Type="http://schemas.openxmlformats.org/officeDocument/2006/relationships/slide" Target="/ppt/slides/slide7.xml" Id="R74f25b66ae8542df" /><Relationship Type="http://schemas.openxmlformats.org/officeDocument/2006/relationships/slide" Target="/ppt/slides/slide8.xml" Id="R6311a742c6ec4ab1" /><Relationship Type="http://schemas.openxmlformats.org/officeDocument/2006/relationships/slide" Target="/ppt/slides/slide9.xml" Id="Rc2866fdd76d843d6" /><Relationship Type="http://schemas.openxmlformats.org/officeDocument/2006/relationships/slide" Target="/ppt/slides/slide10.xml" Id="R3833dd6db70b4f94" /><Relationship Type="http://schemas.openxmlformats.org/officeDocument/2006/relationships/slide" Target="/ppt/slides/slide11.xml" Id="R57c00d288ee14811" /><Relationship Type="http://schemas.openxmlformats.org/officeDocument/2006/relationships/slide" Target="/ppt/slides/slide12.xml" Id="R31f760f317224c0a" /><Relationship Type="http://schemas.openxmlformats.org/officeDocument/2006/relationships/slide" Target="/ppt/slides/slide13.xml" Id="R0c4da4b503874f8b" /><Relationship Type="http://schemas.openxmlformats.org/officeDocument/2006/relationships/slide" Target="/ppt/slides/slide14.xml" Id="R5b03b22dd7534363" /><Relationship Type="http://schemas.openxmlformats.org/officeDocument/2006/relationships/slide" Target="/ppt/slides/slide15.xml" Id="R961c03bd5a854130" /><Relationship Type="http://schemas.openxmlformats.org/officeDocument/2006/relationships/slide" Target="/ppt/slides/slide16.xml" Id="R3e8bdd6a2e3f43be" /><Relationship Type="http://schemas.openxmlformats.org/officeDocument/2006/relationships/slide" Target="/ppt/slides/slide17.xml" Id="R6c9be4930fcb43c1" /><Relationship Type="http://schemas.openxmlformats.org/officeDocument/2006/relationships/slide" Target="/ppt/slides/slide18.xml" Id="Rc31d99e0fbc04f7a" /><Relationship Type="http://schemas.openxmlformats.org/officeDocument/2006/relationships/slide" Target="/ppt/slides/slide19.xml" Id="R0d40d9221cba49ed" /><Relationship Type="http://schemas.openxmlformats.org/officeDocument/2006/relationships/slide" Target="/ppt/slides/slide20.xml" Id="R9e69bb124b99406e" /><Relationship Type="http://schemas.openxmlformats.org/officeDocument/2006/relationships/slide" Target="/ppt/slides/slide21.xml" Id="R42eebd4befe643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e5ed8c1eec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c056f22ee7480e" /><Relationship Type="http://schemas.openxmlformats.org/officeDocument/2006/relationships/notesMaster" Target="/ppt/notesMasters/notesMaster1.xml" Id="R3b8bc51ccd7240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3451d93584e23" /><Relationship Type="http://schemas.openxmlformats.org/officeDocument/2006/relationships/notesMaster" Target="/ppt/notesMasters/notesMaster1.xml" Id="Rb5ff57be6f774d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e53b1cc8724c3d" /><Relationship Type="http://schemas.openxmlformats.org/officeDocument/2006/relationships/notesMaster" Target="/ppt/notesMasters/notesMaster1.xml" Id="R3b40ea5d76284f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3a3ddfa094469b" /><Relationship Type="http://schemas.openxmlformats.org/officeDocument/2006/relationships/notesMaster" Target="/ppt/notesMasters/notesMaster1.xml" Id="Rf867171b0742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847c61810a4c08" /><Relationship Type="http://schemas.openxmlformats.org/officeDocument/2006/relationships/notesMaster" Target="/ppt/notesMasters/notesMaster1.xml" Id="R7b0a94a0530543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3ad48ec38f4853" /><Relationship Type="http://schemas.openxmlformats.org/officeDocument/2006/relationships/notesMaster" Target="/ppt/notesMasters/notesMaster1.xml" Id="R3d84d83df57b46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2ece74633349b4" /><Relationship Type="http://schemas.openxmlformats.org/officeDocument/2006/relationships/notesMaster" Target="/ppt/notesMasters/notesMaster1.xml" Id="Rd0eeabdb606c40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3fd4b4059044c3" /><Relationship Type="http://schemas.openxmlformats.org/officeDocument/2006/relationships/notesMaster" Target="/ppt/notesMasters/notesMaster1.xml" Id="Rf54ca8a399df4c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502ec086de4138" /><Relationship Type="http://schemas.openxmlformats.org/officeDocument/2006/relationships/notesMaster" Target="/ppt/notesMasters/notesMaster1.xml" Id="R9dd9c88f216d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9dcde47b34586" /><Relationship Type="http://schemas.openxmlformats.org/officeDocument/2006/relationships/notesMaster" Target="/ppt/notesMasters/notesMaster1.xml" Id="R8e78c5d44a2040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30356a164f4147" /><Relationship Type="http://schemas.openxmlformats.org/officeDocument/2006/relationships/notesMaster" Target="/ppt/notesMasters/notesMaster1.xml" Id="Re2245ba28e324d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09d5be762945e2" /><Relationship Type="http://schemas.openxmlformats.org/officeDocument/2006/relationships/notesMaster" Target="/ppt/notesMasters/notesMaster1.xml" Id="R1391a942686344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470992198b4ae8" /><Relationship Type="http://schemas.openxmlformats.org/officeDocument/2006/relationships/notesMaster" Target="/ppt/notesMasters/notesMaster1.xml" Id="R69743433287842b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4e6e7898d34cd3" /><Relationship Type="http://schemas.openxmlformats.org/officeDocument/2006/relationships/notesMaster" Target="/ppt/notesMasters/notesMaster1.xml" Id="Rf6ab28e3625d41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447699681c4bea" /><Relationship Type="http://schemas.openxmlformats.org/officeDocument/2006/relationships/notesMaster" Target="/ppt/notesMasters/notesMaster1.xml" Id="R6c24254eaf1841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64e9e0ff1e4ac1" /><Relationship Type="http://schemas.openxmlformats.org/officeDocument/2006/relationships/notesMaster" Target="/ppt/notesMasters/notesMaster1.xml" Id="R6725aaa0f4c64b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d7629e43634858" /><Relationship Type="http://schemas.openxmlformats.org/officeDocument/2006/relationships/notesMaster" Target="/ppt/notesMasters/notesMaster1.xml" Id="Rdc2db50747f94f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e1659c9c744753" /><Relationship Type="http://schemas.openxmlformats.org/officeDocument/2006/relationships/notesMaster" Target="/ppt/notesMasters/notesMaster1.xml" Id="R8e53ab4ccf6243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c380a4bde94fe5" /><Relationship Type="http://schemas.openxmlformats.org/officeDocument/2006/relationships/notesMaster" Target="/ppt/notesMasters/notesMaster1.xml" Id="R0bf5811679b9479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89f66c18d7e4bbd" /><Relationship Type="http://schemas.openxmlformats.org/officeDocument/2006/relationships/notesMaster" Target="/ppt/notesMasters/notesMaster1.xml" Id="R59dc4bc7b73d43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1e3b058d394bc8" /><Relationship Type="http://schemas.openxmlformats.org/officeDocument/2006/relationships/notesMaster" Target="/ppt/notesMasters/notesMaster1.xml" Id="R7f099e29b9d9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una pausa breve. No presentar tecnologías todavía.</a:t>
            </a:r>
          </a:p>
          <a:p xmlns:a="http://schemas.openxmlformats.org/drawingml/2006/main">
            <a:r>
              <a:t>Frase sugerida: Portal Vial nace al conectar una necesidad ciudadana con una necesidad institucional.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C:\Users\ASUS\Desktop\Proyecto1\Proyecto-IMSJ\output\pdf\guia_identidad_grafica_documentacion_imsj.pdf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Contar la situación como una escena, no como una lista de requisitos.</a:t>
            </a:r>
          </a:p>
          <a:p xmlns:a="http://schemas.openxmlformats.org/drawingml/2006/main">
            <a:r>
              <a:t>Evitar afirmar que no existe información en ningún lado. Hablar de información distribuida y dificultad para encontrar la versión adecuada.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C:\Users\ASUS\Desktop\Proyecto1\Proyecto-IMSJ\docs\ingenieria_software\informe entrevista.md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Definir el producto con una sola frase.</a:t>
            </a:r>
          </a:p>
          <a:p xmlns:a="http://schemas.openxmlformats.org/drawingml/2006/main">
            <a:r>
              <a:t>Después pasar de inmediato a situaciones reales y a las pantallas.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las preguntas como guía de la demostración: ¿necesitás estudiar?, ¿noticias?, ¿una duda?, ¿no está respondida?</a:t>
            </a:r>
          </a:p>
          <a:p xmlns:a="http://schemas.openxmlformats.org/drawingml/2006/main">
            <a:r>
              <a:t>Las capturas funcionan como respaldo si la demo en vivo no está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Cambiar al sistema en vivo desde esta diapositiva.</a:t>
            </a:r>
          </a:p>
          <a:p xmlns:a="http://schemas.openxmlformats.org/drawingml/2006/main">
            <a:r>
              <a:t>Recorrer el portal como una persona usuaria. No explicar todavía la arquitectura.</a:t>
            </a:r>
          </a:p>
          <a:p xmlns:a="http://schemas.openxmlformats.org/drawingml/2006/main">
            <a:r>
              <a:t>Si la demo falla, mantener esta pantalla y continuar con el recorrido narrado.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alcance completo antes de entrar al panel o a la ingeniería.</a:t>
            </a:r>
          </a:p>
          <a:p xmlns:a="http://schemas.openxmlformats.org/drawingml/2006/main">
            <a:r>
              <a:t>Aclarar el límite: Portal Vial gestiona información y reservas, pero no emite ni renueva legalmente licencias.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el panel como respuesta a la necesidad institucional, todavía sin entrar en el flujo de aprobación.</a:t>
            </a:r>
          </a:p>
          <a:p xmlns:a="http://schemas.openxmlformats.org/drawingml/2006/main">
            <a:r>
              <a:t>Recorrer agenda, consultas y administración de contenidos para demostrar el alcance operativo.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C:\Users\ASUS\Desktop\Proyecto1\Proyecto-IMSJ\docs\ingenieria_software\project_charter.md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transición entre la venta del producto y la ingeniería.</a:t>
            </a:r>
          </a:p>
          <a:p xmlns:a="http://schemas.openxmlformats.org/drawingml/2006/main">
            <a:r>
              <a:t>Frase sugerida: lo que acabamos de ver no apareció de una vez; cada función tiene un origen y una decisión.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la secuencia completa: planteo, primera puesta en limpio, entrevista, requisitos refinados, historias, desarrollo, demo, cambios, implementación y segunda demo.</a:t>
            </a:r>
          </a:p>
          <a:p xmlns:a="http://schemas.openxmlformats.org/drawingml/2006/main">
            <a:r>
              <a:t>La aprobación pertenece al final del ciclo, después de implementar los cambios solicitados.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C:\Users\ASUS\Desktop\Proyecto1\Proyecto-IMSJ\docs\ingenieria_software\actas_reuniones.md</a:t>
            </a:r>
          </a:p>
          <a:p xmlns:a="http://schemas.openxmlformats.org/drawingml/2006/main">
            <a:r>
              <a:t>Fuente: C:\Users\ASUS\Desktop\Proyecto1\Proyecto-IMSJ\docs\ingenieria_software\actas_sprint_review.md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impacto: consultas agregó un nuevo flujo; aprobación exigió roles y estados; imágenes afectó archivos y validación.</a:t>
            </a:r>
          </a:p>
          <a:p xmlns:a="http://schemas.openxmlformats.org/drawingml/2006/main">
            <a:r>
              <a:t>Cerrar con la segunda demo y la aprobación del 13/10.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CC-02 como ejemplo: necesidad de consulta, RF23, US32, formulario y bandeja, prueba PT-07 y evidencia de integración.</a:t>
            </a:r>
          </a:p>
          <a:p xmlns:a="http://schemas.openxmlformats.org/drawingml/2006/main">
            <a:r>
              <a:t>Esta relación demuestra gestión del cambio y evita presentar funciones aisladas.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C:\Users\ASUS\Desktop\Proyecto1\Proyecto-IMSJ\docs\ingenieria_software\backlog.md</a:t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la parte técnica conectándola con el alcance, no con una lista de tecnologías.</a:t>
            </a:r>
          </a:p>
          <a:p xmlns:a="http://schemas.openxmlformats.org/drawingml/2006/main">
            <a:r>
              <a:t>Cada elección se explica mediante la necesidad que resuelve y el compromiso que introduce.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decisión del 30/09: Laravel no era incorrecto; se eligió PHP nativo para hacer explícito el recorrido y reducir dependencias.</a:t>
            </a:r>
          </a:p>
          <a:p xmlns:a="http://schemas.openxmlformats.org/drawingml/2006/main">
            <a:r>
              <a:t>Aclarar el compromiso: al retirar el framework, el equipo asume rutas, validación y seguridad de forma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  <a:p xmlns:a="http://schemas.openxmlformats.org/drawingml/2006/main">
            <a:r>
              <a:t>Fuente: C:\Users\ASUS\Desktop\Proyecto1\Proyecto-IMSJ\docs\ingenieria_software\control_cambios.md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un solo caso de punta a punta: POST /api/reservas.</a:t>
            </a:r>
          </a:p>
          <a:p xmlns:a="http://schemas.openxmlformats.org/drawingml/2006/main">
            <a:r>
              <a:t>Destacar que el bloqueo y la transacción evitan dos reservas sobre el último cupo.</a:t>
            </a:r>
          </a:p>
          <a:p xmlns:a="http://schemas.openxmlformats.org/drawingml/2006/main">
            <a:r>
              <a:t>Relacionar cada capa con una responsabilidad, no leer nombres de carpetas.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recorrido con nombres reales del proyecto.</a:t>
            </a:r>
          </a:p>
          <a:p xmlns:a="http://schemas.openxmlformats.org/drawingml/2006/main">
            <a:r>
              <a:t>La API devuelve 201 cuando crea la reserva. Si el último cupo ya fue tomado, devuelve 422 y no persiste una segunda fila.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C:\Users\ASUS\Desktop\Proyecto1\Proyecto-IMSJ\docs\programacion_full_stack\guia_codigo_y_defensa.md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recorrer todas las tablas. Elegir dos reglas: integridad de reservas y trazabilidad de contenidos.</a:t>
            </a:r>
          </a:p>
          <a:p xmlns:a="http://schemas.openxmlformats.org/drawingml/2006/main">
            <a:r>
              <a:t>Explicar que las validaciones del frontend mejoran la experiencia, pero las restricciones y permisos se aplican en servidor y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C:\Users\ASUS\Desktop\Proyecto1\Proyecto-IMSJ\backend\database.sql</a:t>
            </a:r>
          </a:p>
          <a:p xmlns:a="http://schemas.openxmlformats.org/drawingml/2006/main">
            <a:r>
              <a:t>Fuente: C:\Users\ASUS\Desktop\Proyecto1\Proyecto-IMSJ\docs_auxiliares\justificacion_decisiones_tecnicas.md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flujo no existía de esta forma al comienzo. Nació del cambio CC-03 solicitado en la demostración del 03/09.</a:t>
            </a:r>
          </a:p>
          <a:p xmlns:a="http://schemas.openxmlformats.org/drawingml/2006/main">
            <a:r>
              <a:t>Conectar esta regla con los permisos del backend y el historial de acciones.</a:t>
            </a:r>
          </a:p>
          <a:p xmlns:a="http://schemas.openxmlformats.org/drawingml/2006/main">
            <a:r>
              <a:t>Ocultar botones en el frontend ayuda a la interfaz, pero la autorización real ocurre en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C:\Users\ASUS\Desktop\Proyecto1\Proyecto-IMSJ\docs\ingenieria_software\Requerimientos.md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qué hay dos contenedores: actualizar la aplicación sin reemplazar los datos.</a:t>
            </a:r>
          </a:p>
          <a:p xmlns:a="http://schemas.openxmlformats.org/drawingml/2006/main">
            <a:r>
              <a:t>Aclarar que MySQL no publica su puerto hacia la red.</a:t>
            </a:r>
          </a:p>
          <a:p xmlns:a="http://schemas.openxmlformats.org/drawingml/2006/main">
            <a:r>
              <a:t>No presentar 90 usuarios como capacidad comprobada. Es un objetivo de dimensionamiento pendiente de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C:\Users\ASUS\Desktop\Proyecto1\Proyecto-IMSJ\docs\administracion_ssoo\justificacion-tecnologica.md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Distinguir controles preventivos de técnicas de verificación.</a:t>
            </a:r>
          </a:p>
          <a:p xmlns:a="http://schemas.openxmlformats.org/drawingml/2006/main">
            <a:r>
              <a:t>No decir que una herramienta garantiza seguridad. Explicar alcance y revalidación de hallazgos.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C:\Users\ASUS\Desktop\Proyecto1\Proyecto-IMSJ\docs\electiva_ciberseguridad\checklist_ciberseguridad_entrega_final.md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Dar los números con su significado. Las 192 comprobaciones no equivalen a cobertura de líneas.</a:t>
            </a:r>
          </a:p>
          <a:p xmlns:a="http://schemas.openxmlformats.org/drawingml/2006/main">
            <a:r>
              <a:t>Explicar el caso 201/422: exactamente una reserva persistió cuando dos procesos compitieron por el último cupo.</a:t>
            </a:r>
          </a:p>
          <a:p xmlns:a="http://schemas.openxmlformats.org/drawingml/2006/main">
            <a:r>
              <a:t>Mantener visible la limitación sobre la prueba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Fuente: C:\Users\ASUS\Desktop\Proyecto1\Proyecto-IMSJ\docs\ingenieria_software\plan_informe_pruebas.md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retomando a los dos actores del comienzo.</a:t>
            </a:r>
          </a:p>
          <a:p xmlns:a="http://schemas.openxmlformats.org/drawingml/2006/main">
            <a:r>
              <a:t>Frase sugerida: Portal Vial convierte dos necesidades en un sistema gestionable, comprobable y preparado para evolucionar.</a:t>
            </a:r>
          </a:p>
          <a:p xmlns:a="http://schemas.openxmlformats.org/drawingml/2006/main">
            <a:r>
              <a:t>Dejar la diapositiva visible durante las preguntas.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e2925399140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ef9dba40f43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3e29a8e344d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195e3cbd849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4afa5e1d741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490319b2447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025A93-0989-4F6C-970F-685C821E6E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9D975D-5497-48E2-9E46-E8A38DAEF2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A2CF61F-3F55-47ED-8482-A2ACAA1E6D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D376A0-3C94-4E51-B53F-D4CD022EF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7DFFB6-2EF0-4E99-9FC4-FB4272F260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5CA913D-073D-46EB-9957-9F5B9BE652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6F479E-1DFE-4D0F-9155-DE082B7205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598E98-2357-4136-8AE9-288F78B15B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60A2E0-C731-4603-9E49-03FC19028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184D6C-675E-4508-9C96-B1AB4C3D34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4ea3b141de4eca" /><Relationship Type="http://schemas.openxmlformats.org/officeDocument/2006/relationships/slideLayout" Target="/ppt/slideLayouts/slideLayout1.xml" Id="Rda3283e9f10844ef" /><Relationship Type="http://schemas.openxmlformats.org/officeDocument/2006/relationships/slideLayout" Target="/ppt/slideLayouts/slideLayout2.xml" Id="Rc7912db850034271" /><Relationship Type="http://schemas.openxmlformats.org/officeDocument/2006/relationships/slideLayout" Target="/ppt/slideLayouts/slideLayout3.xml" Id="R584722d69bf24fe1" /><Relationship Type="http://schemas.openxmlformats.org/officeDocument/2006/relationships/slideLayout" Target="/ppt/slideLayouts/slideLayout4.xml" Id="R261abcef2e2245c4" /><Relationship Type="http://schemas.openxmlformats.org/officeDocument/2006/relationships/slideLayout" Target="/ppt/slideLayouts/slideLayout5.xml" Id="Rcecbfe0c99224bf0" /><Relationship Type="http://schemas.openxmlformats.org/officeDocument/2006/relationships/slideLayout" Target="/ppt/slideLayouts/slideLayout6.xml" Id="Rfddd6af654b846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283e9f10844ef"/>
    <p:sldLayoutId xmlns:r="http://schemas.openxmlformats.org/officeDocument/2006/relationships" id="2147483650" r:id="Rc7912db850034271"/>
    <p:sldLayoutId xmlns:r="http://schemas.openxmlformats.org/officeDocument/2006/relationships" id="2147483651" r:id="R584722d69bf24fe1"/>
    <p:sldLayoutId xmlns:r="http://schemas.openxmlformats.org/officeDocument/2006/relationships" id="2147483652" r:id="R261abcef2e2245c4"/>
    <p:sldLayoutId xmlns:r="http://schemas.openxmlformats.org/officeDocument/2006/relationships" id="2147483653" r:id="Rcecbfe0c99224bf0"/>
    <p:sldLayoutId xmlns:r="http://schemas.openxmlformats.org/officeDocument/2006/relationships" id="2147483654" r:id="Rfddd6af654b846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e6a2932e4043a1" /><Relationship Type="http://schemas.openxmlformats.org/officeDocument/2006/relationships/image" Target="/ppt/media/image.png" Id="Rc22bdad40c4d40e7" /><Relationship Type="http://schemas.openxmlformats.org/officeDocument/2006/relationships/image" Target="/ppt/media/image2.png" Id="Rd8aa83d0470a40fb" /><Relationship Type="http://schemas.openxmlformats.org/officeDocument/2006/relationships/image" Target="/ppt/media/image3.png" Id="R5ff9aea6d50646ad" /><Relationship Type="http://schemas.openxmlformats.org/officeDocument/2006/relationships/notesSlide" Target="/ppt/notesSlides/notesSlide1.xml" Id="R9f3ec4890a60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414b55a6a4904" /><Relationship Type="http://schemas.openxmlformats.org/officeDocument/2006/relationships/notesSlide" Target="/ppt/notesSlides/notesSlide2.xml" Id="R07b761fcb403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5068846b1439a" /><Relationship Type="http://schemas.openxmlformats.org/officeDocument/2006/relationships/notesSlide" Target="/ppt/notesSlides/notesSlide3.xml" Id="R158149a80394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5edaf12414439" /><Relationship Type="http://schemas.openxmlformats.org/officeDocument/2006/relationships/image" Target="/ppt/media/image4.png" Id="R698a5b5828934b8a" /><Relationship Type="http://schemas.openxmlformats.org/officeDocument/2006/relationships/image" Target="/ppt/media/image5.png" Id="Rb094dcdc9abf42b2" /><Relationship Type="http://schemas.openxmlformats.org/officeDocument/2006/relationships/notesSlide" Target="/ppt/notesSlides/notesSlide4.xml" Id="R8f5b8c4c772d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e52f510d94b5c" /><Relationship Type="http://schemas.openxmlformats.org/officeDocument/2006/relationships/image" Target="/ppt/media/image6.png" Id="R4b7c5443d1cc4a74" /><Relationship Type="http://schemas.openxmlformats.org/officeDocument/2006/relationships/notesSlide" Target="/ppt/notesSlides/notesSlide5.xml" Id="Re1f5f8b04dc84d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665b3ea4df4cde" /><Relationship Type="http://schemas.openxmlformats.org/officeDocument/2006/relationships/notesSlide" Target="/ppt/notesSlides/notesSlide6.xml" Id="R1e04ba4366504b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0be2b430641e7" /><Relationship Type="http://schemas.openxmlformats.org/officeDocument/2006/relationships/image" Target="/ppt/media/image7.png" Id="Rcd16bd446a584dc1" /><Relationship Type="http://schemas.openxmlformats.org/officeDocument/2006/relationships/image" Target="/ppt/media/image8.png" Id="Rdd8b1879f9524d4c" /><Relationship Type="http://schemas.openxmlformats.org/officeDocument/2006/relationships/notesSlide" Target="/ppt/notesSlides/notesSlide7.xml" Id="Rcfaa8dac0332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53301c1614bfc" /><Relationship Type="http://schemas.openxmlformats.org/officeDocument/2006/relationships/notesSlide" Target="/ppt/notesSlides/notesSlide8.xml" Id="Re2d3e32e4b574c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79779a1754fbd" /><Relationship Type="http://schemas.openxmlformats.org/officeDocument/2006/relationships/notesSlide" Target="/ppt/notesSlides/notesSlide9.xml" Id="R2e9634bc5d554f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151dbff4f4463" /><Relationship Type="http://schemas.openxmlformats.org/officeDocument/2006/relationships/notesSlide" Target="/ppt/notesSlides/notesSlide10.xml" Id="R5f27cf2ba06f4b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719719f20a44eb" /><Relationship Type="http://schemas.openxmlformats.org/officeDocument/2006/relationships/notesSlide" Target="/ppt/notesSlides/notesSlide11.xml" Id="Rdf3e6dcd4fae44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54b9ec4344f38" /><Relationship Type="http://schemas.openxmlformats.org/officeDocument/2006/relationships/notesSlide" Target="/ppt/notesSlides/notesSlide12.xml" Id="Rd8cd2bf5e51843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e9c62faf747cb" /><Relationship Type="http://schemas.openxmlformats.org/officeDocument/2006/relationships/notesSlide" Target="/ppt/notesSlides/notesSlide13.xml" Id="Ra58a1c44bc0a42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d22ebbc7746f8" /><Relationship Type="http://schemas.openxmlformats.org/officeDocument/2006/relationships/notesSlide" Target="/ppt/notesSlides/notesSlide14.xml" Id="R9d667f972b7a4c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44dffb4f74820" /><Relationship Type="http://schemas.openxmlformats.org/officeDocument/2006/relationships/notesSlide" Target="/ppt/notesSlides/notesSlide15.xml" Id="R7aa58e5cfc364f6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7efbd69d8492a" /><Relationship Type="http://schemas.openxmlformats.org/officeDocument/2006/relationships/notesSlide" Target="/ppt/notesSlides/notesSlide16.xml" Id="Rc00ff7975de445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a1e55f9281409d" /><Relationship Type="http://schemas.openxmlformats.org/officeDocument/2006/relationships/notesSlide" Target="/ppt/notesSlides/notesSlide17.xml" Id="R0342d8d7426445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9b59efdadf4f16" /><Relationship Type="http://schemas.openxmlformats.org/officeDocument/2006/relationships/notesSlide" Target="/ppt/notesSlides/notesSlide18.xml" Id="Rf62433b28e8544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2ec4281c349e9" /><Relationship Type="http://schemas.openxmlformats.org/officeDocument/2006/relationships/notesSlide" Target="/ppt/notesSlides/notesSlide19.xml" Id="Rd256c7b8407443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9dc7f777442da" /><Relationship Type="http://schemas.openxmlformats.org/officeDocument/2006/relationships/notesSlide" Target="/ppt/notesSlides/notesSlide20.xml" Id="R6727fe5d0a9c48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a1b1507d04922" /><Relationship Type="http://schemas.openxmlformats.org/officeDocument/2006/relationships/image" Target="/ppt/media/image9.png" Id="R307e806b0a4a481d" /><Relationship Type="http://schemas.openxmlformats.org/officeDocument/2006/relationships/image" Target="/ppt/media/image10.png" Id="R6ae7a9ddcb5f4b13" /><Relationship Type="http://schemas.openxmlformats.org/officeDocument/2006/relationships/notesSlide" Target="/ppt/notesSlides/notesSlide21.xml" Id="Rc5eb98759fb643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31B4D-5E9F-47F2-AD99-E8FEA087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B742C-F7D2-4036-87D6-6712B43CB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bdad40c4d40e7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7A0FF-6FD5-4868-9F5B-4D87E350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361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07184-F95F-4C41-8215-2DE733ED1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a83d0470a40fb"/>
          <a:stretch xmlns:a="http://schemas.openxmlformats.org/drawingml/2006/main"/>
        </p:blipFill>
        <p:spPr>
          <a:xfrm xmlns:a="http://schemas.openxmlformats.org/drawingml/2006/main">
            <a:off x="628650" y="565058"/>
            <a:ext cx="647700" cy="5843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5360B-870A-40E0-94FE-54AF095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INTENDENCIA DE SAN JOSÉ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058FC-273E-41C1-BEFB-D969F8C0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0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EDUCACIÓN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77C40-D59E-4F42-BFC6-EAC05A1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8ADB2-A89E-46FF-A910-8E8EB97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DEFENSA DEL PROYECTO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A1FE6-1EA4-43A0-97EF-DFE56B3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E2D99-FCB6-4525-8DBA-DEC061B5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Dos necesidades. Una solución gestionable.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C60D1-0955-4C2A-9311-C0F0D26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Proyecto académico | RC5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4F5F3-165D-4962-82F4-4CD3B43F74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9aea6d50646ad"/>
          <a:stretch xmlns:a="http://schemas.openxmlformats.org/drawingml/2006/main"/>
        </p:blipFill>
        <p:spPr>
          <a:xfrm xmlns:a="http://schemas.openxmlformats.org/drawingml/2006/main">
            <a:off x="6010275" y="5924550"/>
            <a:ext cx="476250" cy="47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51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86873-0314-4E8B-BFD2-210D7760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EF0D6-D3D8-49F8-AE6F-7869480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B602-4821-4AA3-B3E4-F76C21F9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7E03C-BF28-462E-975D-680DE32B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3BB4C-8F38-48D3-85DA-9738F0F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C24F2-8CE1-4AC6-8136-1F10A637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Dos perspectivas, una misma brecha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96897-8F40-40CA-AF3C-E7F6FA6C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acceso a la información y la capacidad de comunicar estaban desconectados.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61080-97E6-4A20-A06A-B99E72E7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16B87-63DF-43BD-BB54-33E41D3A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76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joven que quiere prepararse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F4F6A-15F4-4A28-A901-A3AAB33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09850"/>
            <a:ext cx="400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saber qué estudiar, dónde practicar y cómo resolver una duda sin recorrer canales dispersos.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804B9-9996-4BD0-AEE8-6186F62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90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F1208-0B13-4AF3-85DE-6E1C8799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85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DB2B4-76FB-485B-B20A-A89BE6E4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76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20"/>
          </a:bodyPr>
          <a:lstStyle xmlns:a="http://schemas.openxmlformats.org/drawingml/2006/main">
            <a:def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Dirección que necesita llegar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991B45-7718-4BA0-84A4-BF12183E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Necesita comunicar, concientizar y mantener información vigente sin depender del equipo desarrollador.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36C11-1D85-4380-AE72-2B32024B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40005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AEA4C-3B8B-4798-AE76-D9A1A2F6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Información difícil de localizar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4906E-3EB2-44D2-9CD4-5D9D4E1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90525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E91DF-DD2F-4760-A7EF-782256D0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67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Una barrera para acercarse a los jóvenes</a:t>
            </a:r>
          </a:p>
        </p:txBody>
      </p:sp>
    </p:spTree>
    <p:extLst>
      <p:ext uri="{BB962C8B-B14F-4D97-AF65-F5344CB8AC3E}">
        <p14:creationId xmlns:p14="http://schemas.microsoft.com/office/powerpoint/2010/main" val="319570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D14C3-B92E-4651-A716-8CDD4C990740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429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9D6CE-3079-4724-AF37-526ADBF1A2C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32670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DD2F1-2D17-4C37-96D1-3CAFE86D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678F8-4E01-4178-8313-B78AD8EC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 conecta ambas necesidades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284B9-F608-461D-BA30-853CD63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18406-1F11-4690-9AE6-A72F1C5E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C5ED2-941A-41AB-B75F-7A78125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1276350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193D0-0AD7-4FA2-85C4-0FCE2AD8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2438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BC17D-08D1-47C3-B34A-7B21A301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2381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27F4A-6783-40D8-81F1-E175B83A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 DE TRÁNSITO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8CA6F-48DB-4A10-BCF4-5FC0131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Consulta, estudia y realiza gestiones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C1F12-8EEC-4CD3-BF35-1265B0A9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Publica, revisa y mantiene contenidos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6B9A3-604C-4000-98EE-5442A23D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911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 canal ciudadano y una herramienta de gestión en el mismo sistema</a:t>
            </a:r>
          </a:p>
        </p:txBody>
      </p:sp>
    </p:spTree>
    <p:extLst>
      <p:ext uri="{BB962C8B-B14F-4D97-AF65-F5344CB8AC3E}">
        <p14:creationId xmlns:p14="http://schemas.microsoft.com/office/powerpoint/2010/main" val="470347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323268-B56B-4357-9ABF-E2539BAB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CF79A-6ACA-447B-B96E-637935E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619DC-7378-4AD6-BBC3-158E39D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37CB9-04C8-4938-ADE7-5F61129F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E13F8-2618-41EB-802B-FD10CDCF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B46A4-3E9D-4D9D-BE8E-1B842730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necesidad activa una respuesta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5F80E-8155-4825-9917-FBE9427F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funciones aparecen cuando la historia las necesita.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F88D9C-731B-4999-82D8-05DA70B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3A665-3A06-4125-8422-CD4D59A3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Prepararse para el teórico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29DE0-E02C-42EC-AB08-7939DE28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C6B36-D6FD-49D5-8E0D-E814B77B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Materiales y simulacro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7A949-3E4B-4E71-A4AA-ECC2691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4CD19-B6FB-41EA-AAD7-27213559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Conocer novedades vigentes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B9BD30-5F73-40F6-98A1-28D8D70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527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1F865-B094-4A24-BBD0-ED435558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Noticias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41067-093D-4F2E-8141-F1188AE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7AC90-D955-43DE-B749-09E1F4A9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Resolver una duda frecuente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6F1B1-39FD-4057-A33F-115C7E6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A1CEB-0C09-4A85-9CDD-A6BCF4AB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Preguntas por categoría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5C2A19-B23C-4077-86DA-1BA56FB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4121E3-BFA9-4252-B5DE-7F3D8D8D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Consultar algo no publicado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7C5C9C-F9C4-4271-A672-A9FDCC8D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D796E-C5B7-4BA7-8085-5957157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Formulario y bandeja interna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9ED1E-DF20-4BE4-9495-52E56A2AB3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a5b5828934b8a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0002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F5A9F-B041-4467-A697-410B8CDA2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4dcdc9abf42b2"/>
          <a:srcRect xmlns:a="http://schemas.openxmlformats.org/drawingml/2006/main" l="3624" t="0" r="3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4057650"/>
            <a:ext cx="2952750" cy="1790700"/>
          </a:xfrm>
          <a:prstGeom xmlns:a="http://schemas.openxmlformats.org/drawingml/2006/main" prst="roundRect">
            <a:avLst>
              <a:gd name="adj" fmla="val 7447"/>
            </a:avLst>
          </a:prstGeom>
        </p:spPr>
      </p:pic>
    </p:spTree>
    <p:extLst>
      <p:ext uri="{BB962C8B-B14F-4D97-AF65-F5344CB8AC3E}">
        <p14:creationId xmlns:p14="http://schemas.microsoft.com/office/powerpoint/2010/main" val="114588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0FC8F-D893-451C-98BE-C328162AB9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5443d1cc4a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20D6B-4BCC-467E-A610-F41F22C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0AF5A-C9CF-40A7-869B-57A9E43E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 1  |  PORTAL CIUDADANO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785C1-018B-4AFE-8C91-F79ECD20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87B43-EDA6-4753-AFF0-D8039C4B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D94D12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D94D12"/>
                </a:solidFill>
                <a:latin typeface="Segoe UI"/>
                <a:ea typeface="Segoe UI"/>
                <a:cs typeface="Segoe UI"/>
              </a:rPr>
              <a:t>Noticias · estudio · FAQ · simulador · agenda</a:t>
            </a:r>
          </a:p>
        </p:txBody>
      </p:sp>
    </p:spTree>
    <p:extLst>
      <p:ext uri="{BB962C8B-B14F-4D97-AF65-F5344CB8AC3E}">
        <p14:creationId xmlns:p14="http://schemas.microsoft.com/office/powerpoint/2010/main" val="2145010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4701CA-E0FF-4433-A19B-DE52B15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D760A-9BE4-4F8B-9741-AAD30F6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62DFC-47B2-4884-8BE2-3ED683B1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ALCANCE DEL PRODUCTO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D5416-CFF0-439C-816E-50707CC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8D580-28C3-46C9-B47E-B523ACA7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EACC8-3F02-4EA3-A1C9-D4C347C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alcance final combina información, práctica y gestión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0EBBC-2CB0-44C3-8611-DF41F9C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interfaces consumen la misma API y responden a recorridos diferentes.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A7D74-BF15-4AA7-A254-0245FCD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PORTAL CIUDADANO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03A44-52C3-4D65-B58C-6203EC06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3C12F-6070-406E-BECA-5A9E591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y vigencia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70825-C402-4570-80C8-CB7F25B6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F6C8B-B24D-4E44-BF05-A1468BD3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Materiales de estudio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89B49-FD5D-4157-8C47-16E53EAA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57A3E-FDE6-47A5-99F1-9936F8E3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FAQ por categorías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1A742-31A7-431B-8FCF-0226AF07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A5926-2426-40BD-A93F-A38BBDE2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Simulacro con corrección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052EE-9342-4083-A649-A972F9FD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ECC4E-8013-4FBB-A77E-0E7C6D0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56FAA-DC9E-4792-A40F-F9FFE6E9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1740C9-A63A-450F-9BDB-21C5C02F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Agenda, renovación y cancelación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50A2A-5007-4D73-876C-BD0ABB2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190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6E0C5-0CFF-42F4-975F-528253D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PANEL IMSJ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14EE8-7E85-4CCA-81D5-D0CB991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D751A-7561-4A9F-B449-82519C49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Noticias, materiales y FAQ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237EA-A99C-470D-8192-52F21E68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677522-6601-4617-BCA1-23534101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Banco de preguntas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086ED-88CE-4F6C-852F-852261A7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454DF8-1EA1-4908-8144-2021935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90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 y agenda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1750C-0F1E-4406-B131-8CAF73DB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741DEF-8A1D-4F0B-A970-B864A7E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2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Bandeja de consultas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D2985-37F7-4918-BF6B-512618E7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2EAFF-0354-4A2C-B8CC-7747A9E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 y permisos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0B60C-BAD6-4AD4-9CFE-1F973CAF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76C2B7-3149-4044-BEE9-DC57EA32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91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C52EE2-9011-4A1B-84F8-5035A44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810250"/>
            <a:ext cx="76962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B9493C-6641-4425-A3C0-9E437E6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864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El sistema reserva franjas. La emisión o renovación legal de la libreta queda fuera del alcance.</a:t>
            </a:r>
          </a:p>
        </p:txBody>
      </p:sp>
    </p:spTree>
    <p:extLst>
      <p:ext uri="{BB962C8B-B14F-4D97-AF65-F5344CB8AC3E}">
        <p14:creationId xmlns:p14="http://schemas.microsoft.com/office/powerpoint/2010/main" val="213760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03578-658D-4847-95E5-E8F5573B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85021-4C57-411B-903C-6310C952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F008D-EDA1-4519-867B-EA1EB44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A7406-12D2-4A07-BDC9-97F3FEE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7C023-57F2-4076-997D-9A8CEE90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86A6B-267B-4978-BC0E-F150753B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Dirección administra la operación diaria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5BD3F-5124-4B22-836B-424AD27A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Agenda y consultas muestran que el panel va más allá de mantener contenido.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E9D79-6FA7-4D72-9438-EFF57D5490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6bd446a584dc1"/>
          <a:srcRect xmlns:a="http://schemas.openxmlformats.org/drawingml/2006/main" l="2907" t="0" r="29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8580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914BE-35EC-4577-B229-B2927B4EC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b1879f9524d4c"/>
          <a:srcRect xmlns:a="http://schemas.openxmlformats.org/drawingml/2006/main" l="7386" t="0" r="73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0" y="1809750"/>
            <a:ext cx="3810000" cy="2514600"/>
          </a:xfrm>
          <a:prstGeom xmlns:a="http://schemas.openxmlformats.org/drawingml/2006/main" prst="roundRect">
            <a:avLst>
              <a:gd name="adj" fmla="val 53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DA96F-14DD-44AD-842D-803EA83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52950"/>
            <a:ext cx="3810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778CA-4B79-4ABB-A033-3B05B1F5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20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Una misma herramienta permite consultar agenda, leer mensajes y mantener el contenido que ve la ciudadanía.</a:t>
            </a:r>
          </a:p>
        </p:txBody>
      </p:sp>
    </p:spTree>
    <p:extLst>
      <p:ext uri="{BB962C8B-B14F-4D97-AF65-F5344CB8AC3E}">
        <p14:creationId xmlns:p14="http://schemas.microsoft.com/office/powerpoint/2010/main" val="20478709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876D1-68A9-4B60-87F9-983A1D51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F06D4-3F44-4545-BC22-72DA4616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ACTO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DB797-3C86-449C-9BCE-1C7794F1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Nada sale de la nada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AC22D-58C2-46F3-83CA-4E71349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La solución creció a través de decisiones registradas, demostraciones y cambios validados.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36631-0657-4BE8-A6CE-6FD592B0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838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1958F-177A-4A75-8C04-D4A11E08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NECESIDAD  ·  REQUISITO  ·  IMPLEMENTACIÓN  ·  EVIDENCIA</a:t>
            </a:r>
          </a:p>
        </p:txBody>
      </p:sp>
    </p:spTree>
    <p:extLst>
      <p:ext uri="{BB962C8B-B14F-4D97-AF65-F5344CB8AC3E}">
        <p14:creationId xmlns:p14="http://schemas.microsoft.com/office/powerpoint/2010/main" val="47952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2040FD-3870-44D2-B34B-3E75AA7B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0C9D2-7833-4A36-8489-042653A4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C8D1F-ADC4-4993-90FE-36775EF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D3109-A09D-46B5-99BD-4D2C285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0E5B5-87A1-418A-93CD-D9F56B8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5FA81-D29A-45AA-A640-6B141C7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Cada etapa produjo la entrada de la siguiente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214FA-27A4-4CC9-97A4-A1ADFD4A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proceso real alternó análisis, construcción, demostración y ajuste.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C3BA0-AD2B-4E02-8F97-C672D2E4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DESCUBRIR Y 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6171A-4F25-47FA-B3F9-01B8C74E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5EDB9-744A-4483-94A2-93BAB35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DD85A-B445-424B-B99A-23AB1410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PLANTEO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C557F-D054-4639-92BC-B62327A3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 general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B05CC-2B08-4899-9468-103FC1CC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1F2A3-BADC-40BC-B1E0-8DE79AC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PRIMERA</a:t>
            </a:r>
          </a:p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PUESTA EN LIMPIO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BA7B0-490F-4F29-ADD3-CC32836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Borrador de requisitos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AC284-A89E-4FEF-9E78-2B4635E4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16678-8FBB-4A90-B471-B0B94604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09 JUL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CA9E8-2A52-4FB9-B7B4-21A40B22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Entrevista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92298-2A0B-42E0-911D-E258534E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84FD4-78E5-44E1-A3FC-44822E56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REQUISITOS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B67CA4-A935-4A04-9DCD-42C83797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Versión refinada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06474E-E7DD-4654-B26E-FEEC985D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40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CB2B5-5905-4A87-9284-CD3B0C7F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8120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22–28 JUL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CBB47-2E59-4A8A-8E41-1317DB7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765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Historias y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A00DF-1B62-43CE-BDDC-167C82D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CONSTRUIR, MOSTRAR Y AJUSTAR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14841-67EA-45E9-B69B-B07AEEB3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CD01BC-C8CC-4293-BED4-1B400DB9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3A8A6D-0071-4EBE-BEF7-45D0315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JUL–SEP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D5A1AF-AAB4-4CA5-9E27-7480C30B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Sprints 1–4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CD444-7A84-4447-89ED-601D0DD4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29434-5990-49DB-B284-F5DA01DC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9B9F72-25B0-4186-AFA8-23F52FE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al cliente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C0EE2-037B-45CB-8718-ADD11E8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AD4F71-FF7E-49BA-B4CC-2C675A5A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CAMBIOS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B8B5BF-A07C-4A26-9F94-B9265A9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Registro y análisis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9FC2C9-EB79-456E-9AD9-7C07EB32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0F262D-A4FD-40EE-B774-3766653C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SEP–OCT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1129B-3DAF-4284-AB52-0B1E0C8E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Sprint 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AE0E63-5B03-47D7-A34F-15A5EFF4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04AF2B-BA16-45A9-8916-969357B7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81450"/>
            <a:ext cx="177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13 OCT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1C75B3-8378-48D9-AB4D-6D1BF6D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768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Demo y aprobación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CF87D8-07D7-4615-98CE-16B4D32E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95950"/>
            <a:ext cx="91059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EC6D2E-0EDE-46FA-A511-F2D70078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72150"/>
            <a:ext cx="861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Ningún cambio quedó solo en una conversación: se registró, se implementó y volvió a demostrarse.</a:t>
            </a:r>
          </a:p>
        </p:txBody>
      </p:sp>
    </p:spTree>
    <p:extLst>
      <p:ext uri="{BB962C8B-B14F-4D97-AF65-F5344CB8AC3E}">
        <p14:creationId xmlns:p14="http://schemas.microsoft.com/office/powerpoint/2010/main" val="1012614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E7A2F-05E5-49C0-8AD2-9996329C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3E98D-B01D-4F0B-9CB9-B1269B8F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E717E-D587-4FB7-9050-2E2526A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CONTROL DE CAMBIOS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35C6C-D079-4BF0-85A3-969CF8F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8AC46-7B68-43EA-BD75-5AF75E61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9F846-0222-441C-817D-A12F74DE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primera demo cambió el producto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2BE33-1456-49D2-B4B5-D9C10B2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3 de septiembre el cliente pidió tres ampliaciones que alteraron alcance, datos y permisos.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D95F9-2253-4671-BF88-EFA7C358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6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03/09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7863B-C872-4785-B545-79BBB881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DEMO CON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0559-1D0E-41C2-8ED7-43B92130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190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079D5-EB4C-41FC-8E98-B68C4C2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383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432A1-5139-4BE8-9BC8-1E082F7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Consultas ciudadanas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C8347-92E7-407D-8DF9-B250C497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Formulario público y bandeja de lectura en el panel.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1F68F-B5F8-45A7-B50D-218C891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3370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8F731-1311-4C7A-95E6-FB37C68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D7473-43BF-439B-B686-49F229A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Aprobación separada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FC8B2-7086-4E64-AF9E-F0A74B6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00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Directora revisa antes de que el personal publique.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61D91-024A-4E1F-9A67-6E596B3A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748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F9C9D-57BC-4AA2-A8B8-01B8523C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F1C9D-0F2E-455B-A960-686DA3F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Imágenes en el simulacro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90647-E63A-4C91-AAFD-A19B8CC7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preguntas pueden representar situaciones reales de tránsito.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D6C7D-8311-498A-AC15-F4E261B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6935D9-94BB-45CF-8BC2-A36D3FDC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197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CAMBIO REGISTRADO → IMPLEMENTADO → VALIDADO</a:t>
            </a:r>
          </a:p>
        </p:txBody>
      </p:sp>
    </p:spTree>
    <p:extLst>
      <p:ext uri="{BB962C8B-B14F-4D97-AF65-F5344CB8AC3E}">
        <p14:creationId xmlns:p14="http://schemas.microsoft.com/office/powerpoint/2010/main" val="357618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A6D759-D342-4960-8FA2-9B71775B9ED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8107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E92FD-C02A-42B0-996D-2B774495CA3E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5812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E138E-F672-42CF-8762-F32CE2614EB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0550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25A66-1CB3-44E2-95C6-376DFE5A7C3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952875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EB1DA2-62F5-49FD-B79B-C9DBC926A77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000250" y="2695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E4ED44-C069-4AFA-BB84-E01E0254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76DDD-9D2A-4887-9A4A-24B3221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E7694-E21C-4726-8468-92CB896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GESTIÓN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8DF87-C131-4B6F-B2B8-CD859D02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4239B-59DF-48E7-871C-816C16C2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81C6E-5393-4334-8874-D0D9502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La trazabilidad conecta la necesidad con la 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A7B15-C6E3-4F99-B12B-D5D711B6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Cada decisión puede seguirse desde su origen hasta una comprobación concreta.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5D62D-FC2C-4EE4-BCC7-9241A0F3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10610-C1B6-49C5-88D2-8E61C26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NECESIDAD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9627C-926C-4125-8A26-170D9611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Entrevista o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0E3BC-4153-4756-9168-AD6309CA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74D4B-C43F-488C-9AD7-49187FF4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REQUISITO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16A3A-581D-43FB-8B27-9F0A4C92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RF / RNF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982E1-49A4-453C-BB7B-810CD2CA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CCA83B-4AE1-40EA-83E8-BE924D3E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HISTORIA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32909-BB60-4AD6-BBA8-47AB43B7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US y criterio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41168-5EBB-4ABF-83AF-D9957E1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5CB0C-97FD-47C3-93CF-788B0507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IMPLEMENTACIÓN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2232C-C777-44F1-82B7-0334EF8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Pantalla, API y datos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840FC-DBFB-4066-AF68-2CE2ADC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39A9E-6F7C-4F3F-B1CC-F59123AF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PRUEBA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A819F-9C27-4D2B-B803-77587D4E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Escenario esperado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4CBC94-B89D-4C3D-9B62-85353181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324100"/>
            <a:ext cx="156210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119A2-423F-47FB-A7A7-9ACBC368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003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EVIDENCIA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336C4-E994-41F8-8937-5FD8599C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57550"/>
            <a:ext cx="156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Resultado registrado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20B6E-D1A6-4B74-A3D4-2989A1B4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9334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FF8D32-3141-4A16-BCB3-7A1116AC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434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la demostración descubre una necesidad nueva, el cambio vuelve al análisis y actualiza requisitos, historias, implementación y pruebas.</a:t>
            </a:r>
          </a:p>
        </p:txBody>
      </p:sp>
    </p:spTree>
    <p:extLst>
      <p:ext uri="{BB962C8B-B14F-4D97-AF65-F5344CB8AC3E}">
        <p14:creationId xmlns:p14="http://schemas.microsoft.com/office/powerpoint/2010/main" val="17193263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3BA3C-D240-4D99-A727-5E39A0CA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8C8B-CC82-4362-8A16-0043B8F3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00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CONSTRUCCIÓN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E3374-62D5-4488-BEBF-1F5B1D1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¿Cómo construimos el programa?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35870-0E43-4886-B5A5-9DE67BE8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Tecnologías, capas, datos y reglas elegidas para responder al alcance que acabamos de recorrer.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9FB46-F49F-46A6-9391-DFEA05FD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DFCC7-A3C6-410E-8D24-D99939A0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FRONTEND  ·  API  ·  REGLAS  ·  DATOS  ·  DESPLIEGUE</a:t>
            </a:r>
          </a:p>
        </p:txBody>
      </p:sp>
    </p:spTree>
    <p:extLst>
      <p:ext uri="{BB962C8B-B14F-4D97-AF65-F5344CB8AC3E}">
        <p14:creationId xmlns:p14="http://schemas.microsoft.com/office/powerpoint/2010/main" val="15550854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4D6D1-086E-4230-BA8E-C9A71CB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2DFB20-E868-41C8-B231-CA3D9C56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F8060-BFCA-4C00-8AE6-6AA4709B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BDD78-563D-44D5-8B36-FAE76DA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972D1-100B-4C35-B958-F5E59BB4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72F37-41A6-4208-A008-39E150BE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pila explícita y proporcional para ocho módulos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EA85B-440C-4CF7-A21F-76744B2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El equipo priorizó un recorrido comprensible, pocas dependencias y despliegue repetible.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BCD2E-B39D-4E6D-80F8-F92DF65E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INTERFACES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FB381-2249-4F37-98E6-F570153E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7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HTML + CSS + JavaScript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1CAD1-49DF-4BB7-84EC-95803643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288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Dos públicos distintos y ejecución directa en el navegador.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E05A8-D6EC-4A57-98E7-D1126516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83CBD-2303-4A7D-B5F4-DEC2C994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COMUNICACIÓN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F02E4-16E5-4CC1-8AE9-1D35D88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86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Fetch + JSON / multipart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0373A-25DF-4802-85FF-33E763EC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670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Un cliente HTTP compartido concentra token, errores y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6A354-DB99-45F5-AB4C-BE2A0A85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7D550-D56A-4E76-BFF1-D2DAE298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8F0ED-3A1B-4A15-A4CE-909D3A1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24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PHP 8.5 nativo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5A4F6-FF6C-44E6-979B-6DACFFD7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052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Rutas y reglas visibles. Sustituyó Laravel para facilitar comprensión y defensa.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DF06A-907A-4F37-A355-A91E3A95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C6BEF-8219-4DE0-AB00-E0C47EDD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C18A2-63DD-453A-8D3E-3C246D3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+ MySQL 8.4 / InnoDB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2BA40-24EA-4AA8-B398-0938AD06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434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Relaciones, restricciones, transacciones y bloqueo de filas.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924DC8-A59B-47AB-8A3F-840483E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04D18-95FE-4B6B-8C0E-E75B914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ENTORNO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F918C-7C5C-4344-A5DA-2E08D965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006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Docker Compose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8AEF9-174D-4BD4-8077-3DBB3ECE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816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Mismo origen para portal y API; dos servicios reconstruibles.</a:t>
            </a:r>
          </a:p>
        </p:txBody>
      </p:sp>
    </p:spTree>
    <p:extLst>
      <p:ext uri="{BB962C8B-B14F-4D97-AF65-F5344CB8AC3E}">
        <p14:creationId xmlns:p14="http://schemas.microsoft.com/office/powerpoint/2010/main" val="1938971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91D56-4BD2-405D-9D19-D72A73F590E2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441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732D58-2E04-4057-8A30-A2ED2FDD967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0010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9A43B3-D8AD-4AB7-AC81-45BCC96DAEB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579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78965-921F-43FC-9F46-F48CB439971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1148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3A63CE-2FC8-441E-94B2-78828C3101D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171700" y="28670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0891C-B211-4ED2-B397-CAD2CC62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BCE5B-70A6-4E4F-8034-5FB0A11D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EA175-7F26-4862-BD34-AE73B6BB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950E8-C5EF-4C03-BDAA-5F63A6A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1CBA4-10FB-4E81-8801-23CCC959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698DC-212E-4830-9436-0BAC895F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Una petición atraviesa responsabilidades claras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C0E00-9734-4FC5-B897-65FC92D7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interfaz no consulta la base directamente y cada capa resuelve una parte del caso de uso.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6E897-80F2-49A4-A642-AE1E41EE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455D8-A4E6-4CE8-AB89-A5FDB2B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NAVEGADOR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33323-565C-4F0A-872F-25FBE7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Portal o panel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D53EC-C642-438F-8D9D-134855D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9DA16-1A21-42DB-B1BB-77D13B1D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B0A1D1-5E67-4AC3-9CD3-91D69134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Método 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02425-5D96-462E-9F6F-8B0F549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41523-EBA2-4219-B19E-990F0487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04B9B-ACA9-4D99-A79E-95FC2C90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Entrada y permisos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1DFAC-C9F9-4E00-94C0-76F9309F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BA634-63BD-4AC7-9706-DD87E81F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D7294A-F3DF-4B20-93A7-A974010D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51C4D-188C-4111-8403-91CD4BD7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B0253-A724-4D80-8E59-4BD85081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REPOSITORY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25C65-9F14-409B-9ED8-7E1F1A7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Consultas PDO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649C7-DA2B-4EC5-B901-EFAE0E13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619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14288">
            <a:solidFill>
              <a:srgbClr val="1220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BDB87-0626-4F6D-B759-9273D020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1460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MYSQL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CD3CF-AE60-4354-A113-02E8C2F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Persistencia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54BE2-8713-45A9-A6FC-75660A19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02108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1A82F6-24D3-4601-BB76-459561E7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Ejemplo: reservar una franja exige autenticación, valida reglas, bloquea el último cupo y persiste todo dentro de una transacción.</a:t>
            </a:r>
          </a:p>
        </p:txBody>
      </p:sp>
    </p:spTree>
    <p:extLst>
      <p:ext uri="{BB962C8B-B14F-4D97-AF65-F5344CB8AC3E}">
        <p14:creationId xmlns:p14="http://schemas.microsoft.com/office/powerpoint/2010/main" val="144400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58140E-0E02-4628-A571-45402788BC3D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8107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C8A436-7621-460E-879D-F207E55BDDFE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27CBE4-2ADA-4B39-A876-77FB1E02861E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90550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C0E59-53ED-4DBE-8D10-5CCEA774468A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52875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67A64D-E3A2-48D0-97D8-50745F789C2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000250" y="305752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2421BB-3176-492E-BD3B-C0DAEA33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4F0D6-474B-49B4-9574-1EF2F5C3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E9227-A84A-4FBB-9BCE-E014CE0E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PROGRAMACIÓN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61FE-D0E1-4B83-BA60-0C1EB918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F8F9E-A1F9-4CB3-87A3-E6824B9D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CD201-A87D-4D13-BC56-95D89ED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caso de uso recorre archivos concretos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788F0-AD40-47A2-8DC4-C57AFE2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 reserva permite explicar interfaz, ruta, permisos, reglas, SQL, transacción y respuesta.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9F74F-CF9F-46E4-859B-E97FA60A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DB25CB-A4B3-4AA0-AEF5-1E893697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POST /api/reservas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9A690-7A09-47EF-9EF7-ECABBB8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DB6CE-A55A-45D3-90D2-20E3B147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turnos.js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0F3DA-8371-4563-A689-B5375A3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Envía la franja elegida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205AB-1843-4ED0-8ACD-FE62D25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1F837-F53F-4E6C-9E1A-B92A05DB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public/index.php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454E-92E8-43AC-8C2C-CEF62D64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Reconoce método y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B758C-3D0D-4234-BE2B-716C722E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951F9-BB29-42F3-BC39-8DBA0DC7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5A67E-F79C-4840-852C-3BA1641D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Exige usuario y valida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43D3E-4F26-414E-B062-E31B0DBB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DD088-7E5B-4F1F-81F0-5F6CF8EE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8744DE-2E17-4D25-AEFB-BA1FBBFA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Aplica las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978AE-F58C-48B8-8F0F-821E5D9F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F9934-1821-425B-BE6A-3501BB0B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ReservaRepository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F4D8D-A284-4E51-9437-E0924582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Bloquea y persiste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E7797-1B88-45A3-8581-A4FEA424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667000"/>
            <a:ext cx="1562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ADE85-F2D0-499D-B2F3-32A14295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43200"/>
            <a:ext cx="133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Response JSON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07D96-0590-425A-AE1D-E93D6080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6576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Devuelve HTTP 201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FF1B92-FB74-4480-8A29-0F55C99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88773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2FC300-5C43-4810-8152-42CA426C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834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Dentro de la transacción se comprueba la franja, la fecha, la duplicación y el cupo. Ante un fallo se ejecuta rollback.</a:t>
            </a:r>
          </a:p>
        </p:txBody>
      </p:sp>
    </p:spTree>
    <p:extLst>
      <p:ext uri="{BB962C8B-B14F-4D97-AF65-F5344CB8AC3E}">
        <p14:creationId xmlns:p14="http://schemas.microsoft.com/office/powerpoint/2010/main" val="9668942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20D12-D4CB-4477-8DAB-5F40CA7CA84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62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FD9AA-50EA-4F76-8AA8-CE83DD882DE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76500" y="2819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8E7E87-A38A-4009-ACBC-F9B38B4D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F76B8-D353-4957-A437-7ACD2F4A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0F376-6C7A-4876-9E02-14358712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BASE DE DATOS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2178F-98B6-4668-8F6F-DA909538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F4973-A26E-4CC4-9C62-5659824A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335F7-9BD2-43F4-87F8-397D9302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El modelo de datos sostiene reglas del dominio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05518-DC55-4F25-9B4E-C4FB29A1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Las relaciones y restricciones complementan las validaciones de la aplicación.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4BF32-6482-4854-B6A3-79252DBB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RESERVAS Y CAPACIDAD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9E163-766A-4911-AD85-F415CB46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FD394E-7E3F-4F1B-9226-F086F64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USUARIOS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30A61-9C50-49E9-AC80-47A5B8E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4B360-41EA-4E21-A958-4B3DFD9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RESERVAS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B73FC8-D299-4F59-97A1-7DDE322F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809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717BB-F472-43EE-8437-52447B05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FRANJAS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4E2AE-20C3-4F61-AF5B-E7806042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52800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FK + índice único usuario/franja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4686E-1A7F-4936-867F-2CB6E14D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154EA-0C61-4A0F-BF2D-BCE966D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CONTENIDOS Y TRAZABILIDAD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2DA1A-3D4C-443F-84A0-7FD2E89D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429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128B9-0482-4DCA-9924-4E8161F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320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NOTICIAS · MATERIALES · FAQ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0F575-C73B-4A57-A3E5-7AB718D8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F3331-6C77-4D49-B21D-98006DE3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ESTADO Y VIGENCIA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81DDF-6507-4C88-A6E2-AA6F7B0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4290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F2F78-2CAA-46E5-BE70-0CF34A24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320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HISTORIAL DE ACCIONES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7B5D9-ED98-4C52-B655-160C0652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61722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71ADB-A407-4F53-A849-CDF25936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434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1B1F2E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B1F2E"/>
                </a:solidFill>
                <a:latin typeface="Segoe UI"/>
                <a:ea typeface="Segoe UI"/>
                <a:cs typeface="Segoe UI"/>
              </a:rPr>
              <a:t>MySQL InnoDB aporta claves foráneas, transacciones y bloqueo de filas. PDO mantiene el SQL visible y usa valores parametrizados.</a:t>
            </a:r>
          </a:p>
        </p:txBody>
      </p:sp>
    </p:spTree>
    <p:extLst>
      <p:ext uri="{BB962C8B-B14F-4D97-AF65-F5344CB8AC3E}">
        <p14:creationId xmlns:p14="http://schemas.microsoft.com/office/powerpoint/2010/main" val="204101467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DFBB7-B2E1-4352-95C4-8D99591B533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29077-1219-4598-9740-76F7B1FA1FA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531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43084-59BA-4976-BD69-05B44A92062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95600" y="291465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6E9631-6782-43AB-965F-1DFEF8A7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567F2-2A0F-4629-ABBC-6DD00FD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53D29-127D-46A1-9C69-0F1EC16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REGLAS DE NEGOCIO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ABC18-00DE-450A-A93B-83E5F4E1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A1052-2AE4-40F0-88FA-2B8065A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D128E-042C-42A5-8E39-6037AF88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Publicar requiere una secuencia controlada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858CB-1169-42CA-BC21-1B20053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Los estados implementan la aprobación solicitada durante la demostración.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E57F9-60E2-4F63-BEB6-C10CE3A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5A607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1B238-A641-49CF-A3E3-DDDD27D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BORRADOR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4197D-0543-49F0-86E6-7E548C4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crea o edita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FC3C4-B4EE-4A4D-B4FB-B2C6F7DC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14288">
            <a:solidFill>
              <a:srgbClr val="B9790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7AD72-F008-43CC-B932-4C20F7C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B9790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B9790A"/>
                </a:solidFill>
                <a:latin typeface="Segoe UI"/>
                <a:ea typeface="Segoe UI"/>
                <a:cs typeface="Segoe UI"/>
              </a:rPr>
              <a:t>PENDIENTE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B8435-836E-4FCA-8A73-A1E8820D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envía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00D501-069A-475E-8407-54B1664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D8054-F23F-479A-A882-BCE93121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APROBADO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006E1-A7DE-40B3-8C1D-EB90AD31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Directora aprueba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061CA7-385A-4E45-A3D5-F67539ED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21145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14288">
            <a:solidFill>
              <a:srgbClr val="1C8A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C0BC9-FD4D-455D-AB6A-DA5CE26A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885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PUBLICADO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24B9F4-254E-4595-B391-BAFE428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004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Personal publica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B6E4C-68D6-4AB2-9E06-81064D72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6896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FF104-2909-4648-B988-A000D8C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53000"/>
            <a:ext cx="632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Si alguien edita el contenido, vuelve a borrador y necesita una aprobación nueva.</a:t>
            </a:r>
          </a:p>
        </p:txBody>
      </p:sp>
    </p:spTree>
    <p:extLst>
      <p:ext uri="{BB962C8B-B14F-4D97-AF65-F5344CB8AC3E}">
        <p14:creationId xmlns:p14="http://schemas.microsoft.com/office/powerpoint/2010/main" val="20209790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A726E-D406-412D-846C-92883C3BA07B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4671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7A30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ACBFED-6668-4000-9106-E3A25EEC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AC06F-DCA2-4D02-A649-46A797DE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C92D-A376-4262-B3D2-A4C4C7B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INFRAESTRUCTURA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4BC1D-3FFB-4897-B432-A4C0E9C6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184AB-C4C0-4A7A-8ADC-262EF7BB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B29D5-C853-4C3A-8569-2D384BA1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Un entorno reconstruible y separable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8BDB0-8ABB-4FCB-8D6D-E85EFF9C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Docker Compose describe aplicación, base, persistencia y controles de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1D16F-9DE2-4202-878E-990C2D8E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10934700" cy="3886200"/>
          </a:xfrm>
          <a:prstGeom xmlns:a="http://schemas.openxmlformats.org/drawingml/2006/main" prst="roundRect">
            <a:avLst>
              <a:gd name="adj" fmla="val 4902"/>
            </a:avLst>
          </a:prstGeom>
          <a:solidFill xmlns:a="http://schemas.openxmlformats.org/drawingml/2006/main">
            <a:srgbClr val="F3F5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54AF6-F37C-4EC3-A6C9-76EE03FF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BB9AE-15DE-4458-99B4-6401ED2A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UBUNTU SERVER 26.04 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6D7B95-9AFC-40FC-BBDC-2C93C6C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7E0CF-9F0F-4042-AFEA-C2B94220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APP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Apache + PHP + API + frontends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2A9AD-E2F4-48F0-B0FD-2D3E39E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3524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A56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C2C5E-C9F8-448B-AC89-9428802A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3295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MySQL 8.4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9DB02-E5A7-43F4-ABF9-64508533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red interna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44C95-0C33-4A73-BC1A-7BDDC1ED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F10CC-5483-4CA5-8913-27A7EF68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Adjuntos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B2064-2A72-4776-BF3F-0AD140EA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10100"/>
            <a:ext cx="14287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30C92-4341-44D5-A82B-B17F2B88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863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Caché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1D1DE5-45B2-4548-AAC7-B92608C0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1010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DE3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E61C1D-EF09-4639-8C2C-10D3EE3F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Datos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86C51A-830C-4D65-B5B0-AF34ACFF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23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VOLÚMENES PERSISTENTES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CBED0-4952-4C40-B534-0DB730B9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19AD4-5539-4FED-9320-AF5DA9E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2 vCPU · 4 GB RAM · 30 GB SSD/NVMe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818CE-034F-4798-8D11-65D5BCC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48350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Punto inicial. La capacidad de 90 sesiones todavía requiere una prueba de carga.</a:t>
            </a:r>
          </a:p>
        </p:txBody>
      </p:sp>
    </p:spTree>
    <p:extLst>
      <p:ext uri="{BB962C8B-B14F-4D97-AF65-F5344CB8AC3E}">
        <p14:creationId xmlns:p14="http://schemas.microsoft.com/office/powerpoint/2010/main" val="2827312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68D397-83B3-4B3F-851D-D2290B7B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18A6F-DED7-4088-9825-C506232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PORTAL VIAL | DEFENSA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EDC01-8A42-4634-8924-197316A3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CIBERSEGURIDAD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25747-5E35-44CC-8B1A-5C4C579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8EB63-C55B-4C65-BB1D-61E0ED3A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91300"/>
            <a:ext cx="523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9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756EF-7F3A-42E1-84CA-B4357A69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Controles y pruebas de seguridad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3CC7A-361E-41E4-8F58-A0380A1F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075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A6075"/>
                </a:solidFill>
                <a:latin typeface="Segoe UI"/>
                <a:ea typeface="Segoe UI"/>
                <a:cs typeface="Segoe UI"/>
              </a:rPr>
              <a:t>Primero se redujo la superficie de riesgo. Después se buscaron fallos desde distintas perspectivas.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96F6A-A411-4101-ADB8-18CACD55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DENTRO DEL 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52DA7-356B-4E12-901E-FEE35675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E36B5-C72D-444C-B140-BAA59249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Hash de contraseñas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0DEE5-487B-4DF6-9104-E62A32D4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D5683B-67D9-4EA3-93F1-868FFDCE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Permisos en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6BBC1-C5D6-4DDF-BFBD-63E7C856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09EB1-5714-4C54-ABA5-686B862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PDO con parámetros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B6B27-AC8C-49D6-A496-AEE62A9F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143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E5B76-4A8C-489A-97A3-918882BD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Validación y transacciones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3C3ED-D4FE-4A32-81C8-E6B44730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190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5915A-E16A-46CD-BCB8-26C9B0C8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CONTRA EL SISTEMA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0BC4B-DA6B-48B4-B107-5AAFBE7D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266F2-2013-4120-AF56-7EAEE3C5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SAST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0BDAF-C82C-4081-BECB-28233AD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Análisis del código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B7D5AF-EC36-40AD-9D0A-444067C2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2CDC7-3430-4309-8D75-880AC0D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DAST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12F59-DF0B-4AB2-BD40-0C51FE8B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OWASP ZAP en ejecución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8AE4D-84FA-4518-B638-1FD8D03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82006-1F7F-41EC-811D-39A9B2E5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624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1A56A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56A8"/>
                </a:solidFill>
                <a:latin typeface="Segoe UI"/>
                <a:ea typeface="Segoe UI"/>
                <a:cs typeface="Segoe UI"/>
              </a:rPr>
              <a:t>NMAP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BFD9C-91A2-40BE-B917-4D8E80FB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243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Puertos expuestos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9A10F8-0DBE-4A9C-945E-6FC8D3F6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9F4724-D9CE-4AB6-8E1F-194AC49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C85218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C85218"/>
                </a:solidFill>
                <a:latin typeface="Segoe UI"/>
                <a:ea typeface="Segoe UI"/>
                <a:cs typeface="Segoe UI"/>
              </a:rPr>
              <a:t>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4A5F4-F6D3-47FF-B64F-DC70F9A5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67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Auditoría Bash por perfiles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24A6E-13DA-4518-883A-0B4A5294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62600"/>
            <a:ext cx="45910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E5732-3A71-407D-9717-228B627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597"/>
          </a:bodyPr>
          <a:lstStyle xmlns:a="http://schemas.openxmlformats.org/drawingml/2006/main">
            <a:def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C8A5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C8A5A"/>
                </a:solidFill>
                <a:latin typeface="Segoe UI"/>
                <a:ea typeface="Segoe UI"/>
                <a:cs typeface="Segoe UI"/>
              </a:rPr>
              <a:t>Los hallazgos se registran, corrigen y vuelven a probar.</a:t>
            </a:r>
          </a:p>
        </p:txBody>
      </p:sp>
    </p:spTree>
    <p:extLst>
      <p:ext uri="{BB962C8B-B14F-4D97-AF65-F5344CB8AC3E}">
        <p14:creationId xmlns:p14="http://schemas.microsoft.com/office/powerpoint/2010/main" val="15901827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B45598-2674-4751-BF29-8EF410CF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EVIDENCIA DE LA VERSIÓN VERIFICADA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7738A-02CC-475C-B313-63EFEFFF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Resultados que se pueden defender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BBF6A-8F1C-487B-BF4C-CDD639E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0928A-C804-491F-825A-B3DFA399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192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5055D-8208-4E50-8BA9-868AFA8A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comprobaciones de integración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6339-A41D-45F3-BB26-21312C9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D2064-BE27-4326-BA7C-A83FD166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919FB-BD22-4B0A-AC07-21B88E0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endpoints cubiertos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656B5-9BE4-43C8-8FFB-970D674F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1B2D67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FA4D0-5DA8-4BCB-9D49-8DF90AC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6ED0A6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6ED0A6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28A52D-BDFD-4CC7-A1B7-67F01719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pruebas de seguridad aprobadas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5C3A8-6797-4958-9929-92A29123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51435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22346E"/>
          </a:solidFill>
          <a:ln xmlns:a="http://schemas.openxmlformats.org/drawingml/2006/main" w="14288">
            <a:solidFill>
              <a:srgbClr val="3149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35912-5110-4272-8A1C-F3D4EC2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7A30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FF7A30"/>
                </a:solidFill>
                <a:latin typeface="Segoe UI"/>
                <a:ea typeface="Segoe UI"/>
                <a:cs typeface="Segoe UI"/>
              </a:rPr>
              <a:t>201 / 422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AD0C2-ACF4-4415-B007-3E5290F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dos solicitudes, un último cupo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02AE9-E00C-4209-8E8E-297BE6B7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0553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C7D5F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C7D5F0"/>
                </a:solidFill>
                <a:latin typeface="Segoe UI"/>
                <a:ea typeface="Segoe UI"/>
                <a:cs typeface="Segoe UI"/>
              </a:rPr>
              <a:t>La prueba concurrente no sustituye una prueba de carga. El objetivo de 90 sesiones continúa pendiente de medición.</a:t>
            </a:r>
          </a:p>
        </p:txBody>
      </p:sp>
    </p:spTree>
    <p:extLst>
      <p:ext uri="{BB962C8B-B14F-4D97-AF65-F5344CB8AC3E}">
        <p14:creationId xmlns:p14="http://schemas.microsoft.com/office/powerpoint/2010/main" val="19751089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220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38168-4E27-4181-934D-94E556CBE2C9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50570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A631D-0D61-4F1D-9E7E-35DC13F43C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29050" y="3810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8FA9D7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8FE3A-DAD6-41A0-B704-8485C906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3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AFF6A-00B2-4E11-9597-1FACDDB626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e806b0a4a481d"/>
          <a:stretch xmlns:a="http://schemas.openxmlformats.org/drawingml/2006/main"/>
        </p:blipFill>
        <p:spPr>
          <a:xfrm xmlns:a="http://schemas.openxmlformats.org/drawingml/2006/main">
            <a:off x="781050" y="581315"/>
            <a:ext cx="590550" cy="5328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DB973-5711-4595-A9FA-F3BC23C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47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BDAAF-2C59-4AF4-AB45-5E76CFB9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La historia vuelve al punto de partida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9313-9294-49BA-9751-54CF4FD8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ADCDF-93DB-4CA0-B2B8-7F0B9C9D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CIUDADANÍA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Información clara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8C1CF-1F85-4175-B3A6-2D0997DB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19400" cy="156210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7A30"/>
          </a:solidFill>
          <a:ln xmlns:a="http://schemas.openxmlformats.org/drawingml/2006/main" w="14288">
            <a:solidFill>
              <a:srgbClr val="FF7A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2E606-DABE-4965-AB24-C17A18A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5908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PORTAL VIAL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0BCFB-993D-4193-8DD9-3B0AF035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276225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2BA73-A550-496D-8A47-595A201C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DIRECCIÓN</a:t>
            </a:r>
          </a:p>
          <a:p xmlns:a="http://schemas.openxmlformats.org/drawingml/2006/main">
            <a:pPr algn="ctr">
              <a:defRPr sz="1725" b="1">
                <a:solidFill>
                  <a:srgbClr val="12204F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2204F"/>
                </a:solidFill>
                <a:latin typeface="Segoe UI"/>
                <a:ea typeface="Segoe UI"/>
                <a:cs typeface="Segoe UI"/>
              </a:rPr>
              <a:t>Gestión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382B1-5193-4772-AE31-328A9FAE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CE5F7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DCE5F7"/>
                </a:solidFill>
                <a:latin typeface="Segoe UI"/>
                <a:ea typeface="Segoe UI"/>
                <a:cs typeface="Segoe UI"/>
              </a:rPr>
              <a:t>Una solución construida mediante relevamiento, decisiones, validación y evidencia.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20887-956D-4659-AA14-8122EFC79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7a9ddcb5f4b13"/>
          <a:stretch xmlns:a="http://schemas.openxmlformats.org/drawingml/2006/main"/>
        </p:blipFill>
        <p:spPr>
          <a:xfrm xmlns:a="http://schemas.openxmlformats.org/drawingml/2006/main">
            <a:off x="10734675" y="6096000"/>
            <a:ext cx="438150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17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2026-10-27T14:56:17.8530000Z</dcterms:created>
  <dcterms:modified xsi:type="dcterms:W3CDTF">2026-10-27T14:56:17.8530000Z</dcterms:modified>
</coreProperties>
</file>